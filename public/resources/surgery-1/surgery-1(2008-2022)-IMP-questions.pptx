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Times Asked</c:v>
                </c:pt>
              </c:strCache>
            </c:strRef>
          </c:tx>
          <c:spPr>
            <a:solidFill>
              <a:srgbClr val="028090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 i="0" u="none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9"/>
                <c:pt idx="0">
                  <c:v>Cataract</c:v>
                </c:pt>
                <c:pt idx="1">
                  <c:v>Haemorrhage</c:v>
                </c:pt>
                <c:pt idx="2">
                  <c:v>Refractive Errors</c:v>
                </c:pt>
                <c:pt idx="3">
                  <c:v>Ulcer</c:v>
                </c:pt>
                <c:pt idx="4">
                  <c:v>Varicose Veins</c:v>
                </c:pt>
                <c:pt idx="5">
                  <c:v>Glaucoma</c:v>
                </c:pt>
                <c:pt idx="6">
                  <c:v>Burns</c:v>
                </c:pt>
                <c:pt idx="7">
                  <c:v>Shock</c:v>
                </c:pt>
                <c:pt idx="8">
                  <c:v>Conjunctivitis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372-48E3-BC4D-D1257B14E9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"/>
          <c:min val="0"/>
        </c:scaling>
        <c:delete val="0"/>
        <c:axPos val="b"/>
        <c:majorGridlines>
          <c:spPr>
            <a:ln w="6350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975" b="0" i="0" u="none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</c:spPr>
    </c:plotArea>
    <c:plotVisOnly val="1"/>
    <c:dispBlanksAs val="zero"/>
    <c:showDLblsOverMax val="1"/>
  </c:chart>
  <c:spPr>
    <a:solidFill>
      <a:srgbClr val="FFFFFF"/>
    </a:solidFill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A65753-E37C-4C78-B9E4-0558C23C6E46}"/>
              </a:ext>
            </a:extLst>
          </p:cNvPr>
          <p:cNvSpPr>
            <a:spLocks noGrp="1"/>
          </p:cNvSpPr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0A896">
              <a:alpha val="3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FC1A9EB-F6FD-4459-BB19-D859FE540600}"/>
              </a:ext>
            </a:extLst>
          </p:cNvPr>
          <p:cNvSpPr>
            <a:spLocks noGrp="1"/>
          </p:cNvSpPr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02C39A">
              <a:alpha val="25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4B5B2A-C4E5-4AAE-B649-E51C0F13DBE5}"/>
              </a:ext>
            </a:extLst>
          </p:cNvPr>
          <p:cNvSpPr>
            <a:spLocks noGrp="1"/>
          </p:cNvSpPr>
          <p:nvPr/>
        </p:nvSpPr>
        <p:spPr>
          <a:xfrm>
            <a:off x="822960" y="19659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SURGERY-1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BABCC2-49D6-4659-BCC3-FA02B7B40476}"/>
              </a:ext>
            </a:extLst>
          </p:cNvPr>
          <p:cNvSpPr>
            <a:spLocks noGrp="1"/>
          </p:cNvSpPr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Important Essay Questions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CE317E-8BE5-4F94-AFA7-3D24A3EDD72E}"/>
              </a:ext>
            </a:extLst>
          </p:cNvPr>
          <p:cNvSpPr>
            <a:spLocks noGrp="1"/>
          </p:cNvSpPr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Compiled by topic frequency for focused revision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1D45B9A-9849-4551-86CF-4CC877B8DAEA}"/>
              </a:ext>
            </a:extLst>
          </p:cNvPr>
          <p:cNvSpPr>
            <a:spLocks noGrp="1"/>
          </p:cNvSpPr>
          <p:nvPr/>
        </p:nvSpPr>
        <p:spPr>
          <a:xfrm>
            <a:off x="822960" y="4206240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7A6F9AF-AD87-424C-B8E7-E4E77DA3FF7C}"/>
              </a:ext>
            </a:extLst>
          </p:cNvPr>
          <p:cNvSpPr>
            <a:spLocks noGrp="1"/>
          </p:cNvSpPr>
          <p:nvPr/>
        </p:nvSpPr>
        <p:spPr>
          <a:xfrm>
            <a:off x="822960" y="420624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2008 - 2025 | Previous Question Papers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B186DB-9D75-4F31-AA97-EA8538676DC4}"/>
              </a:ext>
            </a:extLst>
          </p:cNvPr>
          <p:cNvSpPr>
            <a:spLocks noGrp="1"/>
          </p:cNvSpPr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Prepared from the supplied question list</a:t>
            </a:r>
          </a:p>
        </p:txBody>
      </p:sp>
    </p:spTree>
    <p:extLst>
      <p:ext uri="{BB962C8B-B14F-4D97-AF65-F5344CB8AC3E}">
        <p14:creationId xmlns:p14="http://schemas.microsoft.com/office/powerpoint/2010/main" val="1483683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F3B5C0-BC54-4E8A-ADAF-D9375C444F03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93B"/>
                </a:solidFill>
                <a:latin typeface="Cambria"/>
                <a:ea typeface="Cambria"/>
                <a:cs typeface="Cambria"/>
              </a:rPr>
              <a:t>Which Essay Topics Repeat the Most?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5D94B5-3366-452C-AE0F-B3FEC621BE56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Frequency of each essay topic appearing in previous question papers, 2008-2025</a:t>
            </a:r>
          </a:p>
        </p:txBody>
      </p:sp>
      <p:graphicFrame>
        <p:nvGraphicFramePr>
          <p:cNvPr id="14" name="Chart 0"/>
          <p:cNvGraphicFramePr/>
          <p:nvPr/>
        </p:nvGraphicFramePr>
        <p:xfrm>
          <a:off x="548640" y="1463040"/>
          <a:ext cx="67665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E615E9CC-A0D9-424A-974C-F00B2F018531}"/>
              </a:ext>
            </a:extLst>
          </p:cNvPr>
          <p:cNvSpPr>
            <a:spLocks noGrp="1"/>
          </p:cNvSpPr>
          <p:nvPr/>
        </p:nvSpPr>
        <p:spPr>
          <a:xfrm>
            <a:off x="7635240" y="1463040"/>
            <a:ext cx="3977640" cy="4937760"/>
          </a:xfrm>
          <a:prstGeom prst="roundRect">
            <a:avLst>
              <a:gd name="adj" fmla="val 2759"/>
            </a:avLst>
          </a:prstGeom>
          <a:solidFill>
            <a:srgbClr val="F0F9F8"/>
          </a:solidFill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9A9B5E3-A34A-4E40-AE6F-276412E7B6DF}"/>
              </a:ext>
            </a:extLst>
          </p:cNvPr>
          <p:cNvSpPr>
            <a:spLocks noGrp="1"/>
          </p:cNvSpPr>
          <p:nvPr/>
        </p:nvSpPr>
        <p:spPr>
          <a:xfrm>
            <a:off x="7955280" y="173736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HOW TO USE THIS GUIDE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87AB5D2-1E44-4DB3-AF3D-7A2E62DC6466}"/>
              </a:ext>
            </a:extLst>
          </p:cNvPr>
          <p:cNvSpPr>
            <a:spLocks noGrp="1"/>
          </p:cNvSpPr>
          <p:nvPr/>
        </p:nvSpPr>
        <p:spPr>
          <a:xfrm>
            <a:off x="7955280" y="219456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Start with the red-zone topics: Conjunctivitis, Shock and Burns account for the strongest repeat pattern.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9510C76-15B9-40A6-A30A-DD3233D49FE7}"/>
              </a:ext>
            </a:extLst>
          </p:cNvPr>
          <p:cNvSpPr>
            <a:spLocks noGrp="1"/>
          </p:cNvSpPr>
          <p:nvPr/>
        </p:nvSpPr>
        <p:spPr>
          <a:xfrm>
            <a:off x="7955280" y="324612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 the topic slides to revise repeated wording, not just topic names. Similar phrasing often returns across years.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6912D72-F832-40FA-B58D-2EA7AB1C4656}"/>
              </a:ext>
            </a:extLst>
          </p:cNvPr>
          <p:cNvSpPr>
            <a:spLocks noGrp="1"/>
          </p:cNvSpPr>
          <p:nvPr/>
        </p:nvSpPr>
        <p:spPr>
          <a:xfrm>
            <a:off x="7955280" y="429768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Then cover the five-time and four-time topics before moving into smaller repeat and single-occurrence topics.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2B2BDDD-B103-43E5-A25C-5D3F67A62A3D}"/>
              </a:ext>
            </a:extLst>
          </p:cNvPr>
          <p:cNvSpPr>
            <a:spLocks noGrp="1"/>
          </p:cNvSpPr>
          <p:nvPr/>
        </p:nvSpPr>
        <p:spPr>
          <a:xfrm>
            <a:off x="7955280" y="534924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The final slide gives a practical revision order for quick last-minute planning.</a:t>
            </a:r>
          </a:p>
        </p:txBody>
      </p:sp>
    </p:spTree>
    <p:extLst>
      <p:ext uri="{BB962C8B-B14F-4D97-AF65-F5344CB8AC3E}">
        <p14:creationId xmlns:p14="http://schemas.microsoft.com/office/powerpoint/2010/main" val="78228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68EDF6-BF41-40F9-8726-F4EB31FF95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D1CA59-CD74-4DAF-9F73-4EE31646B356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685800" cy="68580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1663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5B701DD-BDA0-4355-9527-35A4619AA521}"/>
              </a:ext>
            </a:extLst>
          </p:cNvPr>
          <p:cNvSpPr>
            <a:spLocks noGrp="1"/>
          </p:cNvSpPr>
          <p:nvPr/>
        </p:nvSpPr>
        <p:spPr>
          <a:xfrm>
            <a:off x="141732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Conjunctivitis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27139CF-6E31-4769-BCAD-DAA604F00BA0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1CE2E72-7F65-48F6-8CAD-882FBB19C1DC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8 times | part 1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C563838-8F1B-4EF5-8970-26BC0930B1A8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752FE2E-6D67-4FE9-A67C-0AB8A8533144}"/>
              </a:ext>
            </a:extLst>
          </p:cNvPr>
          <p:cNvSpPr>
            <a:spLocks noGrp="1"/>
          </p:cNvSpPr>
          <p:nvPr/>
        </p:nvSpPr>
        <p:spPr>
          <a:xfrm>
            <a:off x="731520" y="18928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01E2903-71C8-476F-8719-490D341A7B7A}"/>
              </a:ext>
            </a:extLst>
          </p:cNvPr>
          <p:cNvSpPr>
            <a:spLocks noGrp="1"/>
          </p:cNvSpPr>
          <p:nvPr/>
        </p:nvSpPr>
        <p:spPr>
          <a:xfrm>
            <a:off x="731520" y="189280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2008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43B3B54-1410-4C50-AA43-DFBD70134E07}"/>
              </a:ext>
            </a:extLst>
          </p:cNvPr>
          <p:cNvSpPr>
            <a:spLocks noGrp="1"/>
          </p:cNvSpPr>
          <p:nvPr/>
        </p:nvSpPr>
        <p:spPr>
          <a:xfrm>
            <a:off x="731520" y="240487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the classification of conjunctivitis. Explain infective conjunctivitis.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AEEEF32-09C6-437F-861F-30FE1B8FF98E}"/>
              </a:ext>
            </a:extLst>
          </p:cNvPr>
          <p:cNvSpPr>
            <a:spLocks noGrp="1"/>
          </p:cNvSpPr>
          <p:nvPr/>
        </p:nvSpPr>
        <p:spPr>
          <a:xfrm>
            <a:off x="6195060" y="169164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5ABAC59-E51C-4A1E-8924-B3AC4BF41F65}"/>
              </a:ext>
            </a:extLst>
          </p:cNvPr>
          <p:cNvSpPr>
            <a:spLocks noGrp="1"/>
          </p:cNvSpPr>
          <p:nvPr/>
        </p:nvSpPr>
        <p:spPr>
          <a:xfrm>
            <a:off x="6423660" y="18928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50B212A-E893-488E-AED6-B6459A52C8BC}"/>
              </a:ext>
            </a:extLst>
          </p:cNvPr>
          <p:cNvSpPr>
            <a:spLocks noGrp="1"/>
          </p:cNvSpPr>
          <p:nvPr/>
        </p:nvSpPr>
        <p:spPr>
          <a:xfrm>
            <a:off x="6423660" y="189280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2009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AAD24E9-F570-4343-BF08-352A4F4E6292}"/>
              </a:ext>
            </a:extLst>
          </p:cNvPr>
          <p:cNvSpPr>
            <a:spLocks noGrp="1"/>
          </p:cNvSpPr>
          <p:nvPr/>
        </p:nvSpPr>
        <p:spPr>
          <a:xfrm>
            <a:off x="6423660" y="240487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the classification of conjunctivitis. Explain infective conjunctivitis.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5325936-9B06-42D4-B4DB-08EDDECEBDA6}"/>
              </a:ext>
            </a:extLst>
          </p:cNvPr>
          <p:cNvSpPr>
            <a:spLocks noGrp="1"/>
          </p:cNvSpPr>
          <p:nvPr/>
        </p:nvSpPr>
        <p:spPr>
          <a:xfrm>
            <a:off x="502920" y="425196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BA0D6CA-F6DC-4DCC-A623-9E175E1A49F3}"/>
              </a:ext>
            </a:extLst>
          </p:cNvPr>
          <p:cNvSpPr>
            <a:spLocks noGrp="1"/>
          </p:cNvSpPr>
          <p:nvPr/>
        </p:nvSpPr>
        <p:spPr>
          <a:xfrm>
            <a:off x="731520" y="445312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52C45F6-000B-4FDD-83AA-8E662F14DAA6}"/>
              </a:ext>
            </a:extLst>
          </p:cNvPr>
          <p:cNvSpPr>
            <a:spLocks noGrp="1"/>
          </p:cNvSpPr>
          <p:nvPr/>
        </p:nvSpPr>
        <p:spPr>
          <a:xfrm>
            <a:off x="731520" y="445312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2012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1B1CDC3-9315-4AE6-AAEA-7D3565346805}"/>
              </a:ext>
            </a:extLst>
          </p:cNvPr>
          <p:cNvSpPr>
            <a:spLocks noGrp="1"/>
          </p:cNvSpPr>
          <p:nvPr/>
        </p:nvSpPr>
        <p:spPr>
          <a:xfrm>
            <a:off x="731520" y="496519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conjunctivitis. Write etiology, signs and symptoms, and management of acute catarrhal conjunctivitis.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52164C3-8E19-4247-88C9-4709CFAAE2FD}"/>
              </a:ext>
            </a:extLst>
          </p:cNvPr>
          <p:cNvSpPr>
            <a:spLocks noGrp="1"/>
          </p:cNvSpPr>
          <p:nvPr/>
        </p:nvSpPr>
        <p:spPr>
          <a:xfrm>
            <a:off x="6195060" y="425196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E7E2BF73-DD1F-4DBA-80A5-AA6D5CF581A9}"/>
              </a:ext>
            </a:extLst>
          </p:cNvPr>
          <p:cNvSpPr>
            <a:spLocks noGrp="1"/>
          </p:cNvSpPr>
          <p:nvPr/>
        </p:nvSpPr>
        <p:spPr>
          <a:xfrm>
            <a:off x="6423660" y="445312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47C29FD-9FEA-4A2F-8B67-4D6EA7E29BBE}"/>
              </a:ext>
            </a:extLst>
          </p:cNvPr>
          <p:cNvSpPr>
            <a:spLocks noGrp="1"/>
          </p:cNvSpPr>
          <p:nvPr/>
        </p:nvSpPr>
        <p:spPr>
          <a:xfrm>
            <a:off x="6423660" y="445312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2013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B1BE06B-8071-4DAE-845E-20D0E44D6640}"/>
              </a:ext>
            </a:extLst>
          </p:cNvPr>
          <p:cNvSpPr>
            <a:spLocks noGrp="1"/>
          </p:cNvSpPr>
          <p:nvPr/>
        </p:nvSpPr>
        <p:spPr>
          <a:xfrm>
            <a:off x="6423660" y="496519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conjunctivitis. Write etiology, signs and symptoms, and management of acute catarrhal conjunctivitis.</a:t>
            </a:r>
          </a:p>
        </p:txBody>
      </p:sp>
    </p:spTree>
    <p:extLst>
      <p:ext uri="{BB962C8B-B14F-4D97-AF65-F5344CB8AC3E}">
        <p14:creationId xmlns:p14="http://schemas.microsoft.com/office/powerpoint/2010/main" val="1000031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68EDF6-BF41-40F9-8726-F4EB31FF95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D1CA59-CD74-4DAF-9F73-4EE31646B356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685800" cy="68580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1663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5B701DD-BDA0-4355-9527-35A4619AA521}"/>
              </a:ext>
            </a:extLst>
          </p:cNvPr>
          <p:cNvSpPr>
            <a:spLocks noGrp="1"/>
          </p:cNvSpPr>
          <p:nvPr/>
        </p:nvSpPr>
        <p:spPr>
          <a:xfrm>
            <a:off x="141732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Conjunctivitis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27139CF-6E31-4769-BCAD-DAA604F00BA0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1CE2E72-7F65-48F6-8CAD-882FBB19C1DC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8 times | part 2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C563838-8F1B-4EF5-8970-26BC0930B1A8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752FE2E-6D67-4FE9-A67C-0AB8A8533144}"/>
              </a:ext>
            </a:extLst>
          </p:cNvPr>
          <p:cNvSpPr>
            <a:spLocks noGrp="1"/>
          </p:cNvSpPr>
          <p:nvPr/>
        </p:nvSpPr>
        <p:spPr>
          <a:xfrm>
            <a:off x="731520" y="18928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01E2903-71C8-476F-8719-490D341A7B7A}"/>
              </a:ext>
            </a:extLst>
          </p:cNvPr>
          <p:cNvSpPr>
            <a:spLocks noGrp="1"/>
          </p:cNvSpPr>
          <p:nvPr/>
        </p:nvSpPr>
        <p:spPr>
          <a:xfrm>
            <a:off x="731520" y="189280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2015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43B3B54-1410-4C50-AA43-DFBD70134E07}"/>
              </a:ext>
            </a:extLst>
          </p:cNvPr>
          <p:cNvSpPr>
            <a:spLocks noGrp="1"/>
          </p:cNvSpPr>
          <p:nvPr/>
        </p:nvSpPr>
        <p:spPr>
          <a:xfrm>
            <a:off x="731520" y="240487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the classification of conjunctivitis and explain infective conjunctivitis.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AEEEF32-09C6-437F-861F-30FE1B8FF98E}"/>
              </a:ext>
            </a:extLst>
          </p:cNvPr>
          <p:cNvSpPr>
            <a:spLocks noGrp="1"/>
          </p:cNvSpPr>
          <p:nvPr/>
        </p:nvSpPr>
        <p:spPr>
          <a:xfrm>
            <a:off x="6195060" y="169164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5ABAC59-E51C-4A1E-8924-B3AC4BF41F65}"/>
              </a:ext>
            </a:extLst>
          </p:cNvPr>
          <p:cNvSpPr>
            <a:spLocks noGrp="1"/>
          </p:cNvSpPr>
          <p:nvPr/>
        </p:nvSpPr>
        <p:spPr>
          <a:xfrm>
            <a:off x="6423660" y="18928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50B212A-E893-488E-AED6-B6459A52C8BC}"/>
              </a:ext>
            </a:extLst>
          </p:cNvPr>
          <p:cNvSpPr>
            <a:spLocks noGrp="1"/>
          </p:cNvSpPr>
          <p:nvPr/>
        </p:nvSpPr>
        <p:spPr>
          <a:xfrm>
            <a:off x="6423660" y="189280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2015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AAD24E9-F570-4343-BF08-352A4F4E6292}"/>
              </a:ext>
            </a:extLst>
          </p:cNvPr>
          <p:cNvSpPr>
            <a:spLocks noGrp="1"/>
          </p:cNvSpPr>
          <p:nvPr/>
        </p:nvSpPr>
        <p:spPr>
          <a:xfrm>
            <a:off x="6423660" y="240487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conjunctivitis. Write etiology, signs and symptoms, and management of acute catarrhal conjunctivitis.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5325936-9B06-42D4-B4DB-08EDDECEBDA6}"/>
              </a:ext>
            </a:extLst>
          </p:cNvPr>
          <p:cNvSpPr>
            <a:spLocks noGrp="1"/>
          </p:cNvSpPr>
          <p:nvPr/>
        </p:nvSpPr>
        <p:spPr>
          <a:xfrm>
            <a:off x="502920" y="425196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BA0D6CA-F6DC-4DCC-A623-9E175E1A49F3}"/>
              </a:ext>
            </a:extLst>
          </p:cNvPr>
          <p:cNvSpPr>
            <a:spLocks noGrp="1"/>
          </p:cNvSpPr>
          <p:nvPr/>
        </p:nvSpPr>
        <p:spPr>
          <a:xfrm>
            <a:off x="731520" y="445312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52C45F6-000B-4FDD-83AA-8E662F14DAA6}"/>
              </a:ext>
            </a:extLst>
          </p:cNvPr>
          <p:cNvSpPr>
            <a:spLocks noGrp="1"/>
          </p:cNvSpPr>
          <p:nvPr/>
        </p:nvSpPr>
        <p:spPr>
          <a:xfrm>
            <a:off x="731520" y="445312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2016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1B1CDC3-9315-4AE6-AAEA-7D3565346805}"/>
              </a:ext>
            </a:extLst>
          </p:cNvPr>
          <p:cNvSpPr>
            <a:spLocks noGrp="1"/>
          </p:cNvSpPr>
          <p:nvPr/>
        </p:nvSpPr>
        <p:spPr>
          <a:xfrm>
            <a:off x="731520" y="496519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Explain conjunctivitis in detail.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52164C3-8E19-4247-88C9-4709CFAAE2FD}"/>
              </a:ext>
            </a:extLst>
          </p:cNvPr>
          <p:cNvSpPr>
            <a:spLocks noGrp="1"/>
          </p:cNvSpPr>
          <p:nvPr/>
        </p:nvSpPr>
        <p:spPr>
          <a:xfrm>
            <a:off x="6195060" y="425196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E7E2BF73-DD1F-4DBA-80A5-AA6D5CF581A9}"/>
              </a:ext>
            </a:extLst>
          </p:cNvPr>
          <p:cNvSpPr>
            <a:spLocks noGrp="1"/>
          </p:cNvSpPr>
          <p:nvPr/>
        </p:nvSpPr>
        <p:spPr>
          <a:xfrm>
            <a:off x="6423660" y="445312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47C29FD-9FEA-4A2F-8B67-4D6EA7E29BBE}"/>
              </a:ext>
            </a:extLst>
          </p:cNvPr>
          <p:cNvSpPr>
            <a:spLocks noGrp="1"/>
          </p:cNvSpPr>
          <p:nvPr/>
        </p:nvSpPr>
        <p:spPr>
          <a:xfrm>
            <a:off x="6423660" y="445312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2019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B1BE06B-8071-4DAE-845E-20D0E44D6640}"/>
              </a:ext>
            </a:extLst>
          </p:cNvPr>
          <p:cNvSpPr>
            <a:spLocks noGrp="1"/>
          </p:cNvSpPr>
          <p:nvPr/>
        </p:nvSpPr>
        <p:spPr>
          <a:xfrm>
            <a:off x="6423660" y="496519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conjunctivitis. Explain acute catarrhal conjunctivitis in detail.</a:t>
            </a:r>
          </a:p>
        </p:txBody>
      </p:sp>
    </p:spTree>
    <p:extLst>
      <p:ext uri="{BB962C8B-B14F-4D97-AF65-F5344CB8AC3E}">
        <p14:creationId xmlns:p14="http://schemas.microsoft.com/office/powerpoint/2010/main" val="100003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68EDF6-BF41-40F9-8726-F4EB31FF95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D1CA59-CD74-4DAF-9F73-4EE31646B356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685800" cy="68580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1663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5B701DD-BDA0-4355-9527-35A4619AA521}"/>
              </a:ext>
            </a:extLst>
          </p:cNvPr>
          <p:cNvSpPr>
            <a:spLocks noGrp="1"/>
          </p:cNvSpPr>
          <p:nvPr/>
        </p:nvSpPr>
        <p:spPr>
          <a:xfrm>
            <a:off x="141732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Shock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27139CF-6E31-4769-BCAD-DAA604F00BA0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1CE2E72-7F65-48F6-8CAD-882FBB19C1DC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7 times | part 1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C563838-8F1B-4EF5-8970-26BC0930B1A8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752FE2E-6D67-4FE9-A67C-0AB8A8533144}"/>
              </a:ext>
            </a:extLst>
          </p:cNvPr>
          <p:cNvSpPr>
            <a:spLocks noGrp="1"/>
          </p:cNvSpPr>
          <p:nvPr/>
        </p:nvSpPr>
        <p:spPr>
          <a:xfrm>
            <a:off x="731520" y="18928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01E2903-71C8-476F-8719-490D341A7B7A}"/>
              </a:ext>
            </a:extLst>
          </p:cNvPr>
          <p:cNvSpPr>
            <a:spLocks noGrp="1"/>
          </p:cNvSpPr>
          <p:nvPr/>
        </p:nvSpPr>
        <p:spPr>
          <a:xfrm>
            <a:off x="731520" y="189280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2009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43B3B54-1410-4C50-AA43-DFBD70134E07}"/>
              </a:ext>
            </a:extLst>
          </p:cNvPr>
          <p:cNvSpPr>
            <a:spLocks noGrp="1"/>
          </p:cNvSpPr>
          <p:nvPr/>
        </p:nvSpPr>
        <p:spPr>
          <a:xfrm>
            <a:off x="731520" y="240487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shock, classify shock and write in detail about hypovolaemic shock.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AEEEF32-09C6-437F-861F-30FE1B8FF98E}"/>
              </a:ext>
            </a:extLst>
          </p:cNvPr>
          <p:cNvSpPr>
            <a:spLocks noGrp="1"/>
          </p:cNvSpPr>
          <p:nvPr/>
        </p:nvSpPr>
        <p:spPr>
          <a:xfrm>
            <a:off x="6195060" y="169164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5ABAC59-E51C-4A1E-8924-B3AC4BF41F65}"/>
              </a:ext>
            </a:extLst>
          </p:cNvPr>
          <p:cNvSpPr>
            <a:spLocks noGrp="1"/>
          </p:cNvSpPr>
          <p:nvPr/>
        </p:nvSpPr>
        <p:spPr>
          <a:xfrm>
            <a:off x="6423660" y="18928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50B212A-E893-488E-AED6-B6459A52C8BC}"/>
              </a:ext>
            </a:extLst>
          </p:cNvPr>
          <p:cNvSpPr>
            <a:spLocks noGrp="1"/>
          </p:cNvSpPr>
          <p:nvPr/>
        </p:nvSpPr>
        <p:spPr>
          <a:xfrm>
            <a:off x="6423660" y="189280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2011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AAD24E9-F570-4343-BF08-352A4F4E6292}"/>
              </a:ext>
            </a:extLst>
          </p:cNvPr>
          <p:cNvSpPr>
            <a:spLocks noGrp="1"/>
          </p:cNvSpPr>
          <p:nvPr/>
        </p:nvSpPr>
        <p:spPr>
          <a:xfrm>
            <a:off x="6423660" y="240487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is shock? Explain types, aetiology, clinical features and management.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5325936-9B06-42D4-B4DB-08EDDECEBDA6}"/>
              </a:ext>
            </a:extLst>
          </p:cNvPr>
          <p:cNvSpPr>
            <a:spLocks noGrp="1"/>
          </p:cNvSpPr>
          <p:nvPr/>
        </p:nvSpPr>
        <p:spPr>
          <a:xfrm>
            <a:off x="502920" y="425196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BA0D6CA-F6DC-4DCC-A623-9E175E1A49F3}"/>
              </a:ext>
            </a:extLst>
          </p:cNvPr>
          <p:cNvSpPr>
            <a:spLocks noGrp="1"/>
          </p:cNvSpPr>
          <p:nvPr/>
        </p:nvSpPr>
        <p:spPr>
          <a:xfrm>
            <a:off x="731520" y="445312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52C45F6-000B-4FDD-83AA-8E662F14DAA6}"/>
              </a:ext>
            </a:extLst>
          </p:cNvPr>
          <p:cNvSpPr>
            <a:spLocks noGrp="1"/>
          </p:cNvSpPr>
          <p:nvPr/>
        </p:nvSpPr>
        <p:spPr>
          <a:xfrm>
            <a:off x="731520" y="445312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2013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1B1CDC3-9315-4AE6-AAEA-7D3565346805}"/>
              </a:ext>
            </a:extLst>
          </p:cNvPr>
          <p:cNvSpPr>
            <a:spLocks noGrp="1"/>
          </p:cNvSpPr>
          <p:nvPr/>
        </p:nvSpPr>
        <p:spPr>
          <a:xfrm>
            <a:off x="731520" y="496519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Describe shock with causes, types, clinical features, pathophysiology and management.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52164C3-8E19-4247-88C9-4709CFAAE2FD}"/>
              </a:ext>
            </a:extLst>
          </p:cNvPr>
          <p:cNvSpPr>
            <a:spLocks noGrp="1"/>
          </p:cNvSpPr>
          <p:nvPr/>
        </p:nvSpPr>
        <p:spPr>
          <a:xfrm>
            <a:off x="6195060" y="425196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E7E2BF73-DD1F-4DBA-80A5-AA6D5CF581A9}"/>
              </a:ext>
            </a:extLst>
          </p:cNvPr>
          <p:cNvSpPr>
            <a:spLocks noGrp="1"/>
          </p:cNvSpPr>
          <p:nvPr/>
        </p:nvSpPr>
        <p:spPr>
          <a:xfrm>
            <a:off x="6423660" y="445312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47C29FD-9FEA-4A2F-8B67-4D6EA7E29BBE}"/>
              </a:ext>
            </a:extLst>
          </p:cNvPr>
          <p:cNvSpPr>
            <a:spLocks noGrp="1"/>
          </p:cNvSpPr>
          <p:nvPr/>
        </p:nvSpPr>
        <p:spPr>
          <a:xfrm>
            <a:off x="6423660" y="445312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2015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B1BE06B-8071-4DAE-845E-20D0E44D6640}"/>
              </a:ext>
            </a:extLst>
          </p:cNvPr>
          <p:cNvSpPr>
            <a:spLocks noGrp="1"/>
          </p:cNvSpPr>
          <p:nvPr/>
        </p:nvSpPr>
        <p:spPr>
          <a:xfrm>
            <a:off x="6423660" y="496519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Classify shock. Describe clinical features, investigations and management of septic shock.</a:t>
            </a:r>
          </a:p>
        </p:txBody>
      </p:sp>
    </p:spTree>
    <p:extLst>
      <p:ext uri="{BB962C8B-B14F-4D97-AF65-F5344CB8AC3E}">
        <p14:creationId xmlns:p14="http://schemas.microsoft.com/office/powerpoint/2010/main" val="1000031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81C180-DEA1-48E1-BFDB-64DD66A80A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A74D77-B014-4688-88F7-FCEA574D10B5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685800" cy="68580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1663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4E3E81B-00A5-4E27-86DD-7449BE92542B}"/>
              </a:ext>
            </a:extLst>
          </p:cNvPr>
          <p:cNvSpPr>
            <a:spLocks noGrp="1"/>
          </p:cNvSpPr>
          <p:nvPr/>
        </p:nvSpPr>
        <p:spPr>
          <a:xfrm>
            <a:off x="141732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Shock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6916986-7AA0-46F7-8EDA-A91534E091E1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4682FB2-F091-4F42-BA5B-C6D8FDF826C6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7 times | part 2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729A954-82D1-4DB2-8658-DD954F66D9BE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D77AC4A-773E-457A-9C0C-72BA9BBAC025}"/>
              </a:ext>
            </a:extLst>
          </p:cNvPr>
          <p:cNvSpPr>
            <a:spLocks noGrp="1"/>
          </p:cNvSpPr>
          <p:nvPr/>
        </p:nvSpPr>
        <p:spPr>
          <a:xfrm>
            <a:off x="777240" y="224790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0A95D3D-357F-45DA-83F5-20F20BCE2D6C}"/>
              </a:ext>
            </a:extLst>
          </p:cNvPr>
          <p:cNvSpPr>
            <a:spLocks noGrp="1"/>
          </p:cNvSpPr>
          <p:nvPr/>
        </p:nvSpPr>
        <p:spPr>
          <a:xfrm>
            <a:off x="777240" y="22479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2017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AB547A8-F82C-46CA-A359-748D4A53A67A}"/>
              </a:ext>
            </a:extLst>
          </p:cNvPr>
          <p:cNvSpPr>
            <a:spLocks noGrp="1"/>
          </p:cNvSpPr>
          <p:nvPr/>
        </p:nvSpPr>
        <p:spPr>
          <a:xfrm>
            <a:off x="2331720" y="1691640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Describe shock in detail with its management.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BAB8A1A-EA71-44C6-8F46-CBFB3C337063}"/>
              </a:ext>
            </a:extLst>
          </p:cNvPr>
          <p:cNvSpPr>
            <a:spLocks noGrp="1"/>
          </p:cNvSpPr>
          <p:nvPr/>
        </p:nvSpPr>
        <p:spPr>
          <a:xfrm>
            <a:off x="502920" y="3389376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79AEE06-6FF3-46D9-9705-55704675DA13}"/>
              </a:ext>
            </a:extLst>
          </p:cNvPr>
          <p:cNvSpPr>
            <a:spLocks noGrp="1"/>
          </p:cNvSpPr>
          <p:nvPr/>
        </p:nvSpPr>
        <p:spPr>
          <a:xfrm>
            <a:off x="777240" y="3945636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FCD9BB3-36E9-4569-BC6C-8D1881846A35}"/>
              </a:ext>
            </a:extLst>
          </p:cNvPr>
          <p:cNvSpPr>
            <a:spLocks noGrp="1"/>
          </p:cNvSpPr>
          <p:nvPr/>
        </p:nvSpPr>
        <p:spPr>
          <a:xfrm>
            <a:off x="777240" y="3945636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2018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20D08E2-C229-424B-89F8-BD1F20C96DC0}"/>
              </a:ext>
            </a:extLst>
          </p:cNvPr>
          <p:cNvSpPr>
            <a:spLocks noGrp="1"/>
          </p:cNvSpPr>
          <p:nvPr/>
        </p:nvSpPr>
        <p:spPr>
          <a:xfrm>
            <a:off x="2331720" y="3389376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shock. Write types, details of hypovolemic shock and management.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BFF2C36-8B90-4BC8-A1D9-F68A5ECF50B9}"/>
              </a:ext>
            </a:extLst>
          </p:cNvPr>
          <p:cNvSpPr>
            <a:spLocks noGrp="1"/>
          </p:cNvSpPr>
          <p:nvPr/>
        </p:nvSpPr>
        <p:spPr>
          <a:xfrm>
            <a:off x="502920" y="5087112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32A466E-6C4A-4493-98A3-F063F42BA9DD}"/>
              </a:ext>
            </a:extLst>
          </p:cNvPr>
          <p:cNvSpPr>
            <a:spLocks noGrp="1"/>
          </p:cNvSpPr>
          <p:nvPr/>
        </p:nvSpPr>
        <p:spPr>
          <a:xfrm>
            <a:off x="777240" y="564337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B51C7DF-F24B-4849-872C-6407FC66A837}"/>
              </a:ext>
            </a:extLst>
          </p:cNvPr>
          <p:cNvSpPr>
            <a:spLocks noGrp="1"/>
          </p:cNvSpPr>
          <p:nvPr/>
        </p:nvSpPr>
        <p:spPr>
          <a:xfrm>
            <a:off x="777240" y="56433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F321F0E-3977-4214-AE47-E2F040ACF4BA}"/>
              </a:ext>
            </a:extLst>
          </p:cNvPr>
          <p:cNvSpPr>
            <a:spLocks noGrp="1"/>
          </p:cNvSpPr>
          <p:nvPr/>
        </p:nvSpPr>
        <p:spPr>
          <a:xfrm>
            <a:off x="2331720" y="5087112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shock, its causes, types, clinical features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36229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81C180-DEA1-48E1-BFDB-64DD66A80A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A74D77-B014-4688-88F7-FCEA574D10B5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685800" cy="68580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1663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4E3E81B-00A5-4E27-86DD-7449BE92542B}"/>
              </a:ext>
            </a:extLst>
          </p:cNvPr>
          <p:cNvSpPr>
            <a:spLocks noGrp="1"/>
          </p:cNvSpPr>
          <p:nvPr/>
        </p:nvSpPr>
        <p:spPr>
          <a:xfrm>
            <a:off x="141732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Burns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6916986-7AA0-46F7-8EDA-A91534E091E1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4682FB2-F091-4F42-BA5B-C6D8FDF826C6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6 times | part 1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729A954-82D1-4DB2-8658-DD954F66D9BE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D77AC4A-773E-457A-9C0C-72BA9BBAC025}"/>
              </a:ext>
            </a:extLst>
          </p:cNvPr>
          <p:cNvSpPr>
            <a:spLocks noGrp="1"/>
          </p:cNvSpPr>
          <p:nvPr/>
        </p:nvSpPr>
        <p:spPr>
          <a:xfrm>
            <a:off x="777240" y="224790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0A95D3D-357F-45DA-83F5-20F20BCE2D6C}"/>
              </a:ext>
            </a:extLst>
          </p:cNvPr>
          <p:cNvSpPr>
            <a:spLocks noGrp="1"/>
          </p:cNvSpPr>
          <p:nvPr/>
        </p:nvSpPr>
        <p:spPr>
          <a:xfrm>
            <a:off x="777240" y="22479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2009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AB547A8-F82C-46CA-A359-748D4A53A67A}"/>
              </a:ext>
            </a:extLst>
          </p:cNvPr>
          <p:cNvSpPr>
            <a:spLocks noGrp="1"/>
          </p:cNvSpPr>
          <p:nvPr/>
        </p:nvSpPr>
        <p:spPr>
          <a:xfrm>
            <a:off x="2331720" y="1691640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burns, classify burns and write in detail about pathology of burns.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BAB8A1A-EA71-44C6-8F46-CBFB3C337063}"/>
              </a:ext>
            </a:extLst>
          </p:cNvPr>
          <p:cNvSpPr>
            <a:spLocks noGrp="1"/>
          </p:cNvSpPr>
          <p:nvPr/>
        </p:nvSpPr>
        <p:spPr>
          <a:xfrm>
            <a:off x="502920" y="3389376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79AEE06-6FF3-46D9-9705-55704675DA13}"/>
              </a:ext>
            </a:extLst>
          </p:cNvPr>
          <p:cNvSpPr>
            <a:spLocks noGrp="1"/>
          </p:cNvSpPr>
          <p:nvPr/>
        </p:nvSpPr>
        <p:spPr>
          <a:xfrm>
            <a:off x="777240" y="3945636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FCD9BB3-36E9-4569-BC6C-8D1881846A35}"/>
              </a:ext>
            </a:extLst>
          </p:cNvPr>
          <p:cNvSpPr>
            <a:spLocks noGrp="1"/>
          </p:cNvSpPr>
          <p:nvPr/>
        </p:nvSpPr>
        <p:spPr>
          <a:xfrm>
            <a:off x="777240" y="3945636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2010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20D08E2-C229-424B-89F8-BD1F20C96DC0}"/>
              </a:ext>
            </a:extLst>
          </p:cNvPr>
          <p:cNvSpPr>
            <a:spLocks noGrp="1"/>
          </p:cNvSpPr>
          <p:nvPr/>
        </p:nvSpPr>
        <p:spPr>
          <a:xfrm>
            <a:off x="2331720" y="3389376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types, clinical features, pathophysiology, metabolic changes and causes of death in burns.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BFF2C36-8B90-4BC8-A1D9-F68A5ECF50B9}"/>
              </a:ext>
            </a:extLst>
          </p:cNvPr>
          <p:cNvSpPr>
            <a:spLocks noGrp="1"/>
          </p:cNvSpPr>
          <p:nvPr/>
        </p:nvSpPr>
        <p:spPr>
          <a:xfrm>
            <a:off x="502920" y="5087112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32A466E-6C4A-4493-98A3-F063F42BA9DD}"/>
              </a:ext>
            </a:extLst>
          </p:cNvPr>
          <p:cNvSpPr>
            <a:spLocks noGrp="1"/>
          </p:cNvSpPr>
          <p:nvPr/>
        </p:nvSpPr>
        <p:spPr>
          <a:xfrm>
            <a:off x="777240" y="564337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B51C7DF-F24B-4849-872C-6407FC66A837}"/>
              </a:ext>
            </a:extLst>
          </p:cNvPr>
          <p:cNvSpPr>
            <a:spLocks noGrp="1"/>
          </p:cNvSpPr>
          <p:nvPr/>
        </p:nvSpPr>
        <p:spPr>
          <a:xfrm>
            <a:off x="777240" y="56433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2012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F321F0E-3977-4214-AE47-E2F040ACF4BA}"/>
              </a:ext>
            </a:extLst>
          </p:cNvPr>
          <p:cNvSpPr>
            <a:spLocks noGrp="1"/>
          </p:cNvSpPr>
          <p:nvPr/>
        </p:nvSpPr>
        <p:spPr>
          <a:xfrm>
            <a:off x="2331720" y="5087112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about burns, types, pathophysiology, assessment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362294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81C180-DEA1-48E1-BFDB-64DD66A80A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A74D77-B014-4688-88F7-FCEA574D10B5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685800" cy="68580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1663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4E3E81B-00A5-4E27-86DD-7449BE92542B}"/>
              </a:ext>
            </a:extLst>
          </p:cNvPr>
          <p:cNvSpPr>
            <a:spLocks noGrp="1"/>
          </p:cNvSpPr>
          <p:nvPr/>
        </p:nvSpPr>
        <p:spPr>
          <a:xfrm>
            <a:off x="141732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Burns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6916986-7AA0-46F7-8EDA-A91534E091E1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4682FB2-F091-4F42-BA5B-C6D8FDF826C6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6 times | part 2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729A954-82D1-4DB2-8658-DD954F66D9BE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D77AC4A-773E-457A-9C0C-72BA9BBAC025}"/>
              </a:ext>
            </a:extLst>
          </p:cNvPr>
          <p:cNvSpPr>
            <a:spLocks noGrp="1"/>
          </p:cNvSpPr>
          <p:nvPr/>
        </p:nvSpPr>
        <p:spPr>
          <a:xfrm>
            <a:off x="777240" y="224790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0A95D3D-357F-45DA-83F5-20F20BCE2D6C}"/>
              </a:ext>
            </a:extLst>
          </p:cNvPr>
          <p:cNvSpPr>
            <a:spLocks noGrp="1"/>
          </p:cNvSpPr>
          <p:nvPr/>
        </p:nvSpPr>
        <p:spPr>
          <a:xfrm>
            <a:off x="777240" y="22479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2016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AB547A8-F82C-46CA-A359-748D4A53A67A}"/>
              </a:ext>
            </a:extLst>
          </p:cNvPr>
          <p:cNvSpPr>
            <a:spLocks noGrp="1"/>
          </p:cNvSpPr>
          <p:nvPr/>
        </p:nvSpPr>
        <p:spPr>
          <a:xfrm>
            <a:off x="2331720" y="1691640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burns. Write different types, assessment, management and treatment.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BAB8A1A-EA71-44C6-8F46-CBFB3C337063}"/>
              </a:ext>
            </a:extLst>
          </p:cNvPr>
          <p:cNvSpPr>
            <a:spLocks noGrp="1"/>
          </p:cNvSpPr>
          <p:nvPr/>
        </p:nvSpPr>
        <p:spPr>
          <a:xfrm>
            <a:off x="502920" y="3389376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79AEE06-6FF3-46D9-9705-55704675DA13}"/>
              </a:ext>
            </a:extLst>
          </p:cNvPr>
          <p:cNvSpPr>
            <a:spLocks noGrp="1"/>
          </p:cNvSpPr>
          <p:nvPr/>
        </p:nvSpPr>
        <p:spPr>
          <a:xfrm>
            <a:off x="777240" y="3945636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FCD9BB3-36E9-4569-BC6C-8D1881846A35}"/>
              </a:ext>
            </a:extLst>
          </p:cNvPr>
          <p:cNvSpPr>
            <a:spLocks noGrp="1"/>
          </p:cNvSpPr>
          <p:nvPr/>
        </p:nvSpPr>
        <p:spPr>
          <a:xfrm>
            <a:off x="777240" y="3945636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2018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20D08E2-C229-424B-89F8-BD1F20C96DC0}"/>
              </a:ext>
            </a:extLst>
          </p:cNvPr>
          <p:cNvSpPr>
            <a:spLocks noGrp="1"/>
          </p:cNvSpPr>
          <p:nvPr/>
        </p:nvSpPr>
        <p:spPr>
          <a:xfrm>
            <a:off x="2331720" y="3389376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burns. Write types, pathophysiology, assessment and management.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BFF2C36-8B90-4BC8-A1D9-F68A5ECF50B9}"/>
              </a:ext>
            </a:extLst>
          </p:cNvPr>
          <p:cNvSpPr>
            <a:spLocks noGrp="1"/>
          </p:cNvSpPr>
          <p:nvPr/>
        </p:nvSpPr>
        <p:spPr>
          <a:xfrm>
            <a:off x="502920" y="5087112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32A466E-6C4A-4493-98A3-F063F42BA9DD}"/>
              </a:ext>
            </a:extLst>
          </p:cNvPr>
          <p:cNvSpPr>
            <a:spLocks noGrp="1"/>
          </p:cNvSpPr>
          <p:nvPr/>
        </p:nvSpPr>
        <p:spPr>
          <a:xfrm>
            <a:off x="777240" y="564337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B51C7DF-F24B-4849-872C-6407FC66A837}"/>
              </a:ext>
            </a:extLst>
          </p:cNvPr>
          <p:cNvSpPr>
            <a:spLocks noGrp="1"/>
          </p:cNvSpPr>
          <p:nvPr/>
        </p:nvSpPr>
        <p:spPr>
          <a:xfrm>
            <a:off x="777240" y="56433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F321F0E-3977-4214-AE47-E2F040ACF4BA}"/>
              </a:ext>
            </a:extLst>
          </p:cNvPr>
          <p:cNvSpPr>
            <a:spLocks noGrp="1"/>
          </p:cNvSpPr>
          <p:nvPr/>
        </p:nvSpPr>
        <p:spPr>
          <a:xfrm>
            <a:off x="2331720" y="5087112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Explain burns, degrees of burns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362294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FE5CD3-39C6-4D57-ACAA-5AB009F6BD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8E842F-E48C-4C40-B47D-A71D9B0A44E1}"/>
              </a:ext>
            </a:extLst>
          </p:cNvPr>
          <p:cNvSpPr>
            <a:spLocks noGrp="1"/>
          </p:cNvSpPr>
          <p:nvPr/>
        </p:nvSpPr>
        <p:spPr>
          <a:xfrm>
            <a:off x="502920" y="301752"/>
            <a:ext cx="640080" cy="64008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7200"/>
            <a:ext cx="329184" cy="32918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C8A2DE8-BB2C-4CAD-9B2C-1AE8F5B00CE1}"/>
              </a:ext>
            </a:extLst>
          </p:cNvPr>
          <p:cNvSpPr>
            <a:spLocks noGrp="1"/>
          </p:cNvSpPr>
          <p:nvPr/>
        </p:nvSpPr>
        <p:spPr>
          <a:xfrm>
            <a:off x="137160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Glaucoma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5F11DF0-8836-4012-8D21-6917E4176A87}"/>
              </a:ext>
            </a:extLst>
          </p:cNvPr>
          <p:cNvSpPr>
            <a:spLocks noGrp="1"/>
          </p:cNvSpPr>
          <p:nvPr/>
        </p:nvSpPr>
        <p:spPr>
          <a:xfrm>
            <a:off x="1371600" y="685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Asked 5 times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F8B722A-6012-4264-B5A6-80F4D2FFAC27}"/>
              </a:ext>
            </a:extLst>
          </p:cNvPr>
          <p:cNvSpPr>
            <a:spLocks noGrp="1"/>
          </p:cNvSpPr>
          <p:nvPr/>
        </p:nvSpPr>
        <p:spPr>
          <a:xfrm>
            <a:off x="457200" y="1508760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3B6BAD1-23FC-4FEF-904D-12B60D36D2E7}"/>
              </a:ext>
            </a:extLst>
          </p:cNvPr>
          <p:cNvSpPr>
            <a:spLocks noGrp="1"/>
          </p:cNvSpPr>
          <p:nvPr/>
        </p:nvSpPr>
        <p:spPr>
          <a:xfrm>
            <a:off x="713232" y="1508760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2009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8D6A87D-7EDC-4E31-A2BC-648A2B84E29B}"/>
              </a:ext>
            </a:extLst>
          </p:cNvPr>
          <p:cNvSpPr>
            <a:spLocks noGrp="1"/>
          </p:cNvSpPr>
          <p:nvPr/>
        </p:nvSpPr>
        <p:spPr>
          <a:xfrm>
            <a:off x="3154680" y="1618488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631B86D-050F-40E7-8326-711C7DACF156}"/>
              </a:ext>
            </a:extLst>
          </p:cNvPr>
          <p:cNvSpPr>
            <a:spLocks noGrp="1"/>
          </p:cNvSpPr>
          <p:nvPr/>
        </p:nvSpPr>
        <p:spPr>
          <a:xfrm>
            <a:off x="3383280" y="1508760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glaucoma and write about it in detail.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47542FC-4AF4-4F12-A319-BFF1AC0511B1}"/>
              </a:ext>
            </a:extLst>
          </p:cNvPr>
          <p:cNvSpPr>
            <a:spLocks noGrp="1"/>
          </p:cNvSpPr>
          <p:nvPr/>
        </p:nvSpPr>
        <p:spPr>
          <a:xfrm>
            <a:off x="457200" y="2553005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84ADEC1-7E17-42CB-A9E9-91C33558A250}"/>
              </a:ext>
            </a:extLst>
          </p:cNvPr>
          <p:cNvSpPr>
            <a:spLocks noGrp="1"/>
          </p:cNvSpPr>
          <p:nvPr/>
        </p:nvSpPr>
        <p:spPr>
          <a:xfrm>
            <a:off x="713232" y="2553005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AUG 2010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13F624D-F50A-4676-B4F8-6A05EED14F44}"/>
              </a:ext>
            </a:extLst>
          </p:cNvPr>
          <p:cNvSpPr>
            <a:spLocks noGrp="1"/>
          </p:cNvSpPr>
          <p:nvPr/>
        </p:nvSpPr>
        <p:spPr>
          <a:xfrm>
            <a:off x="3154680" y="2662733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CDC8FD0-E72A-4797-ACFE-07458D1F01B0}"/>
              </a:ext>
            </a:extLst>
          </p:cNvPr>
          <p:cNvSpPr>
            <a:spLocks noGrp="1"/>
          </p:cNvSpPr>
          <p:nvPr/>
        </p:nvSpPr>
        <p:spPr>
          <a:xfrm>
            <a:off x="3383280" y="2553005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Describe etiology, classification, pathology, clinical features and management of glaucoma.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F03216F-EFA4-4039-A160-76888DFECBFD}"/>
              </a:ext>
            </a:extLst>
          </p:cNvPr>
          <p:cNvSpPr>
            <a:spLocks noGrp="1"/>
          </p:cNvSpPr>
          <p:nvPr/>
        </p:nvSpPr>
        <p:spPr>
          <a:xfrm>
            <a:off x="457200" y="3597250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BB0BF0D-C978-44C8-A836-592BBC6C8D1C}"/>
              </a:ext>
            </a:extLst>
          </p:cNvPr>
          <p:cNvSpPr>
            <a:spLocks noGrp="1"/>
          </p:cNvSpPr>
          <p:nvPr/>
        </p:nvSpPr>
        <p:spPr>
          <a:xfrm>
            <a:off x="713232" y="3597250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AUG 2017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ED0D7B1-31B0-40A0-8AD2-73B3E09717A9}"/>
              </a:ext>
            </a:extLst>
          </p:cNvPr>
          <p:cNvSpPr>
            <a:spLocks noGrp="1"/>
          </p:cNvSpPr>
          <p:nvPr/>
        </p:nvSpPr>
        <p:spPr>
          <a:xfrm>
            <a:off x="3154680" y="3706978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270E104-47BF-4F9D-B11E-48082654C56F}"/>
              </a:ext>
            </a:extLst>
          </p:cNvPr>
          <p:cNvSpPr>
            <a:spLocks noGrp="1"/>
          </p:cNvSpPr>
          <p:nvPr/>
        </p:nvSpPr>
        <p:spPr>
          <a:xfrm>
            <a:off x="3383280" y="3597250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glaucoma. Mention types and elaborate primary open-angle glaucoma.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EDCD225-1FE3-4F40-8120-8DC70469997D}"/>
              </a:ext>
            </a:extLst>
          </p:cNvPr>
          <p:cNvSpPr>
            <a:spLocks noGrp="1"/>
          </p:cNvSpPr>
          <p:nvPr/>
        </p:nvSpPr>
        <p:spPr>
          <a:xfrm>
            <a:off x="457200" y="4641494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DEF96D8-5C30-48BF-9703-9F4DB091A2E4}"/>
              </a:ext>
            </a:extLst>
          </p:cNvPr>
          <p:cNvSpPr>
            <a:spLocks noGrp="1"/>
          </p:cNvSpPr>
          <p:nvPr/>
        </p:nvSpPr>
        <p:spPr>
          <a:xfrm>
            <a:off x="713232" y="4641494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2020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572ABEA-49CD-4069-B7FF-12E6DB2D7EE3}"/>
              </a:ext>
            </a:extLst>
          </p:cNvPr>
          <p:cNvSpPr>
            <a:spLocks noGrp="1"/>
          </p:cNvSpPr>
          <p:nvPr/>
        </p:nvSpPr>
        <p:spPr>
          <a:xfrm>
            <a:off x="3154680" y="4751222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586D985-EC55-4488-B7DB-270AC91C9F40}"/>
              </a:ext>
            </a:extLst>
          </p:cNvPr>
          <p:cNvSpPr>
            <a:spLocks noGrp="1"/>
          </p:cNvSpPr>
          <p:nvPr/>
        </p:nvSpPr>
        <p:spPr>
          <a:xfrm>
            <a:off x="3383280" y="4641494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glaucoma. Explain types, pathogenesis, clinical features and management.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15DF0CF-7860-42C8-AFA3-5D54D8DBAEBF}"/>
              </a:ext>
            </a:extLst>
          </p:cNvPr>
          <p:cNvSpPr>
            <a:spLocks noGrp="1"/>
          </p:cNvSpPr>
          <p:nvPr/>
        </p:nvSpPr>
        <p:spPr>
          <a:xfrm>
            <a:off x="457200" y="5685739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2857DCF-7BD4-426C-8C84-F3F9F71EB4E8}"/>
              </a:ext>
            </a:extLst>
          </p:cNvPr>
          <p:cNvSpPr>
            <a:spLocks noGrp="1"/>
          </p:cNvSpPr>
          <p:nvPr/>
        </p:nvSpPr>
        <p:spPr>
          <a:xfrm>
            <a:off x="713232" y="5685739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4AD88BB5-52BB-47DA-BB56-680462453E9D}"/>
              </a:ext>
            </a:extLst>
          </p:cNvPr>
          <p:cNvSpPr>
            <a:spLocks noGrp="1"/>
          </p:cNvSpPr>
          <p:nvPr/>
        </p:nvSpPr>
        <p:spPr>
          <a:xfrm>
            <a:off x="3154680" y="5795467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8CAA1CC-7599-4FA8-BB4B-844ED4FEE6CF}"/>
              </a:ext>
            </a:extLst>
          </p:cNvPr>
          <p:cNvSpPr>
            <a:spLocks noGrp="1"/>
          </p:cNvSpPr>
          <p:nvPr/>
        </p:nvSpPr>
        <p:spPr>
          <a:xfrm>
            <a:off x="3383280" y="5685739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glaucoma. Write investigations, complications, diagnosis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661012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FE5CD3-39C6-4D57-ACAA-5AB009F6BD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8E842F-E48C-4C40-B47D-A71D9B0A44E1}"/>
              </a:ext>
            </a:extLst>
          </p:cNvPr>
          <p:cNvSpPr>
            <a:spLocks noGrp="1"/>
          </p:cNvSpPr>
          <p:nvPr/>
        </p:nvSpPr>
        <p:spPr>
          <a:xfrm>
            <a:off x="502920" y="301752"/>
            <a:ext cx="640080" cy="64008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7200"/>
            <a:ext cx="329184" cy="32918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C8A2DE8-BB2C-4CAD-9B2C-1AE8F5B00CE1}"/>
              </a:ext>
            </a:extLst>
          </p:cNvPr>
          <p:cNvSpPr>
            <a:spLocks noGrp="1"/>
          </p:cNvSpPr>
          <p:nvPr/>
        </p:nvSpPr>
        <p:spPr>
          <a:xfrm>
            <a:off x="137160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Varicose Veins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5F11DF0-8836-4012-8D21-6917E4176A87}"/>
              </a:ext>
            </a:extLst>
          </p:cNvPr>
          <p:cNvSpPr>
            <a:spLocks noGrp="1"/>
          </p:cNvSpPr>
          <p:nvPr/>
        </p:nvSpPr>
        <p:spPr>
          <a:xfrm>
            <a:off x="1371600" y="685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Asked 5 times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F8B722A-6012-4264-B5A6-80F4D2FFAC27}"/>
              </a:ext>
            </a:extLst>
          </p:cNvPr>
          <p:cNvSpPr>
            <a:spLocks noGrp="1"/>
          </p:cNvSpPr>
          <p:nvPr/>
        </p:nvSpPr>
        <p:spPr>
          <a:xfrm>
            <a:off x="457200" y="1508760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3B6BAD1-23FC-4FEF-904D-12B60D36D2E7}"/>
              </a:ext>
            </a:extLst>
          </p:cNvPr>
          <p:cNvSpPr>
            <a:spLocks noGrp="1"/>
          </p:cNvSpPr>
          <p:nvPr/>
        </p:nvSpPr>
        <p:spPr>
          <a:xfrm>
            <a:off x="713232" y="1508760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AUG 2008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8D6A87D-7EDC-4E31-A2BC-648A2B84E29B}"/>
              </a:ext>
            </a:extLst>
          </p:cNvPr>
          <p:cNvSpPr>
            <a:spLocks noGrp="1"/>
          </p:cNvSpPr>
          <p:nvPr/>
        </p:nvSpPr>
        <p:spPr>
          <a:xfrm>
            <a:off x="3154680" y="1618488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631B86D-050F-40E7-8326-711C7DACF156}"/>
              </a:ext>
            </a:extLst>
          </p:cNvPr>
          <p:cNvSpPr>
            <a:spLocks noGrp="1"/>
          </p:cNvSpPr>
          <p:nvPr/>
        </p:nvSpPr>
        <p:spPr>
          <a:xfrm>
            <a:off x="3383280" y="1508760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are varicose veins? Write aetiology, signs, symptoms, complications and treatment.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47542FC-4AF4-4F12-A319-BFF1AC0511B1}"/>
              </a:ext>
            </a:extLst>
          </p:cNvPr>
          <p:cNvSpPr>
            <a:spLocks noGrp="1"/>
          </p:cNvSpPr>
          <p:nvPr/>
        </p:nvSpPr>
        <p:spPr>
          <a:xfrm>
            <a:off x="457200" y="2553005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84ADEC1-7E17-42CB-A9E9-91C33558A250}"/>
              </a:ext>
            </a:extLst>
          </p:cNvPr>
          <p:cNvSpPr>
            <a:spLocks noGrp="1"/>
          </p:cNvSpPr>
          <p:nvPr/>
        </p:nvSpPr>
        <p:spPr>
          <a:xfrm>
            <a:off x="713232" y="2553005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2010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13F624D-F50A-4676-B4F8-6A05EED14F44}"/>
              </a:ext>
            </a:extLst>
          </p:cNvPr>
          <p:cNvSpPr>
            <a:spLocks noGrp="1"/>
          </p:cNvSpPr>
          <p:nvPr/>
        </p:nvSpPr>
        <p:spPr>
          <a:xfrm>
            <a:off x="3154680" y="2662733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CDC8FD0-E72A-4797-ACFE-07458D1F01B0}"/>
              </a:ext>
            </a:extLst>
          </p:cNvPr>
          <p:cNvSpPr>
            <a:spLocks noGrp="1"/>
          </p:cNvSpPr>
          <p:nvPr/>
        </p:nvSpPr>
        <p:spPr>
          <a:xfrm>
            <a:off x="3383280" y="2553005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varicose veins. Write types, pathogenesis, classification, etiology, sites, clinical features, investigations and differential diagnosis.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F03216F-EFA4-4039-A160-76888DFECBFD}"/>
              </a:ext>
            </a:extLst>
          </p:cNvPr>
          <p:cNvSpPr>
            <a:spLocks noGrp="1"/>
          </p:cNvSpPr>
          <p:nvPr/>
        </p:nvSpPr>
        <p:spPr>
          <a:xfrm>
            <a:off x="457200" y="3597250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BB0BF0D-C978-44C8-A836-592BBC6C8D1C}"/>
              </a:ext>
            </a:extLst>
          </p:cNvPr>
          <p:cNvSpPr>
            <a:spLocks noGrp="1"/>
          </p:cNvSpPr>
          <p:nvPr/>
        </p:nvSpPr>
        <p:spPr>
          <a:xfrm>
            <a:off x="713232" y="3597250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2014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ED0D7B1-31B0-40A0-8AD2-73B3E09717A9}"/>
              </a:ext>
            </a:extLst>
          </p:cNvPr>
          <p:cNvSpPr>
            <a:spLocks noGrp="1"/>
          </p:cNvSpPr>
          <p:nvPr/>
        </p:nvSpPr>
        <p:spPr>
          <a:xfrm>
            <a:off x="3154680" y="3706978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270E104-47BF-4F9D-B11E-48082654C56F}"/>
              </a:ext>
            </a:extLst>
          </p:cNvPr>
          <p:cNvSpPr>
            <a:spLocks noGrp="1"/>
          </p:cNvSpPr>
          <p:nvPr/>
        </p:nvSpPr>
        <p:spPr>
          <a:xfrm>
            <a:off x="3383280" y="3597250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Describe definition, etiology, clinical features, local examination and complications of varicose vein.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EDCD225-1FE3-4F40-8120-8DC70469997D}"/>
              </a:ext>
            </a:extLst>
          </p:cNvPr>
          <p:cNvSpPr>
            <a:spLocks noGrp="1"/>
          </p:cNvSpPr>
          <p:nvPr/>
        </p:nvSpPr>
        <p:spPr>
          <a:xfrm>
            <a:off x="457200" y="4641494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DEF96D8-5C30-48BF-9703-9F4DB091A2E4}"/>
              </a:ext>
            </a:extLst>
          </p:cNvPr>
          <p:cNvSpPr>
            <a:spLocks noGrp="1"/>
          </p:cNvSpPr>
          <p:nvPr/>
        </p:nvSpPr>
        <p:spPr>
          <a:xfrm>
            <a:off x="713232" y="4641494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2015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572ABEA-49CD-4069-B7FF-12E6DB2D7EE3}"/>
              </a:ext>
            </a:extLst>
          </p:cNvPr>
          <p:cNvSpPr>
            <a:spLocks noGrp="1"/>
          </p:cNvSpPr>
          <p:nvPr/>
        </p:nvSpPr>
        <p:spPr>
          <a:xfrm>
            <a:off x="3154680" y="4751222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586D985-EC55-4488-B7DB-270AC91C9F40}"/>
              </a:ext>
            </a:extLst>
          </p:cNvPr>
          <p:cNvSpPr>
            <a:spLocks noGrp="1"/>
          </p:cNvSpPr>
          <p:nvPr/>
        </p:nvSpPr>
        <p:spPr>
          <a:xfrm>
            <a:off x="3383280" y="4641494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are varicose veins? Write aetiology, signs, symptoms, complications and treatment.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15DF0CF-7860-42C8-AFA3-5D54D8DBAEBF}"/>
              </a:ext>
            </a:extLst>
          </p:cNvPr>
          <p:cNvSpPr>
            <a:spLocks noGrp="1"/>
          </p:cNvSpPr>
          <p:nvPr/>
        </p:nvSpPr>
        <p:spPr>
          <a:xfrm>
            <a:off x="457200" y="5685739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2857DCF-7BD4-426C-8C84-F3F9F71EB4E8}"/>
              </a:ext>
            </a:extLst>
          </p:cNvPr>
          <p:cNvSpPr>
            <a:spLocks noGrp="1"/>
          </p:cNvSpPr>
          <p:nvPr/>
        </p:nvSpPr>
        <p:spPr>
          <a:xfrm>
            <a:off x="713232" y="5685739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AUG 2017</a:t>
            </a: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4AD88BB5-52BB-47DA-BB56-680462453E9D}"/>
              </a:ext>
            </a:extLst>
          </p:cNvPr>
          <p:cNvSpPr>
            <a:spLocks noGrp="1"/>
          </p:cNvSpPr>
          <p:nvPr/>
        </p:nvSpPr>
        <p:spPr>
          <a:xfrm>
            <a:off x="3154680" y="5795467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8CAA1CC-7599-4FA8-BB4B-844ED4FEE6CF}"/>
              </a:ext>
            </a:extLst>
          </p:cNvPr>
          <p:cNvSpPr>
            <a:spLocks noGrp="1"/>
          </p:cNvSpPr>
          <p:nvPr/>
        </p:nvSpPr>
        <p:spPr>
          <a:xfrm>
            <a:off x="3383280" y="5685739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varicose vein. Write pathology, clinical features and management in detail.</a:t>
            </a:r>
          </a:p>
        </p:txBody>
      </p:sp>
    </p:spTree>
    <p:extLst>
      <p:ext uri="{BB962C8B-B14F-4D97-AF65-F5344CB8AC3E}">
        <p14:creationId xmlns:p14="http://schemas.microsoft.com/office/powerpoint/2010/main" val="1661012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68EDF6-BF41-40F9-8726-F4EB31FF95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D1CA59-CD74-4DAF-9F73-4EE31646B356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685800" cy="68580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1663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5B701DD-BDA0-4355-9527-35A4619AA521}"/>
              </a:ext>
            </a:extLst>
          </p:cNvPr>
          <p:cNvSpPr>
            <a:spLocks noGrp="1"/>
          </p:cNvSpPr>
          <p:nvPr/>
        </p:nvSpPr>
        <p:spPr>
          <a:xfrm>
            <a:off x="141732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Ulcer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27139CF-6E31-4769-BCAD-DAA604F00BA0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1CE2E72-7F65-48F6-8CAD-882FBB19C1DC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4 times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C563838-8F1B-4EF5-8970-26BC0930B1A8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752FE2E-6D67-4FE9-A67C-0AB8A8533144}"/>
              </a:ext>
            </a:extLst>
          </p:cNvPr>
          <p:cNvSpPr>
            <a:spLocks noGrp="1"/>
          </p:cNvSpPr>
          <p:nvPr/>
        </p:nvSpPr>
        <p:spPr>
          <a:xfrm>
            <a:off x="731520" y="18928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01E2903-71C8-476F-8719-490D341A7B7A}"/>
              </a:ext>
            </a:extLst>
          </p:cNvPr>
          <p:cNvSpPr>
            <a:spLocks noGrp="1"/>
          </p:cNvSpPr>
          <p:nvPr/>
        </p:nvSpPr>
        <p:spPr>
          <a:xfrm>
            <a:off x="731520" y="189280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2008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43B3B54-1410-4C50-AA43-DFBD70134E07}"/>
              </a:ext>
            </a:extLst>
          </p:cNvPr>
          <p:cNvSpPr>
            <a:spLocks noGrp="1"/>
          </p:cNvSpPr>
          <p:nvPr/>
        </p:nvSpPr>
        <p:spPr>
          <a:xfrm>
            <a:off x="731520" y="240487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is an ulcer? Write types, clinical features and examination of an ulcer.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AEEEF32-09C6-437F-861F-30FE1B8FF98E}"/>
              </a:ext>
            </a:extLst>
          </p:cNvPr>
          <p:cNvSpPr>
            <a:spLocks noGrp="1"/>
          </p:cNvSpPr>
          <p:nvPr/>
        </p:nvSpPr>
        <p:spPr>
          <a:xfrm>
            <a:off x="6195060" y="169164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5ABAC59-E51C-4A1E-8924-B3AC4BF41F65}"/>
              </a:ext>
            </a:extLst>
          </p:cNvPr>
          <p:cNvSpPr>
            <a:spLocks noGrp="1"/>
          </p:cNvSpPr>
          <p:nvPr/>
        </p:nvSpPr>
        <p:spPr>
          <a:xfrm>
            <a:off x="6423660" y="18928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50B212A-E893-488E-AED6-B6459A52C8BC}"/>
              </a:ext>
            </a:extLst>
          </p:cNvPr>
          <p:cNvSpPr>
            <a:spLocks noGrp="1"/>
          </p:cNvSpPr>
          <p:nvPr/>
        </p:nvSpPr>
        <p:spPr>
          <a:xfrm>
            <a:off x="6423660" y="189280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2013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AAD24E9-F570-4343-BF08-352A4F4E6292}"/>
              </a:ext>
            </a:extLst>
          </p:cNvPr>
          <p:cNvSpPr>
            <a:spLocks noGrp="1"/>
          </p:cNvSpPr>
          <p:nvPr/>
        </p:nvSpPr>
        <p:spPr>
          <a:xfrm>
            <a:off x="6423660" y="240487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corneal ulcers. Describe etiology, pathology, classification, clinical features, investigation, differential diagnosis and management.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5325936-9B06-42D4-B4DB-08EDDECEBDA6}"/>
              </a:ext>
            </a:extLst>
          </p:cNvPr>
          <p:cNvSpPr>
            <a:spLocks noGrp="1"/>
          </p:cNvSpPr>
          <p:nvPr/>
        </p:nvSpPr>
        <p:spPr>
          <a:xfrm>
            <a:off x="502920" y="425196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BA0D6CA-F6DC-4DCC-A623-9E175E1A49F3}"/>
              </a:ext>
            </a:extLst>
          </p:cNvPr>
          <p:cNvSpPr>
            <a:spLocks noGrp="1"/>
          </p:cNvSpPr>
          <p:nvPr/>
        </p:nvSpPr>
        <p:spPr>
          <a:xfrm>
            <a:off x="731520" y="445312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52C45F6-000B-4FDD-83AA-8E662F14DAA6}"/>
              </a:ext>
            </a:extLst>
          </p:cNvPr>
          <p:cNvSpPr>
            <a:spLocks noGrp="1"/>
          </p:cNvSpPr>
          <p:nvPr/>
        </p:nvSpPr>
        <p:spPr>
          <a:xfrm>
            <a:off x="731520" y="445312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2017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1B1CDC3-9315-4AE6-AAEA-7D3565346805}"/>
              </a:ext>
            </a:extLst>
          </p:cNvPr>
          <p:cNvSpPr>
            <a:spLocks noGrp="1"/>
          </p:cNvSpPr>
          <p:nvPr/>
        </p:nvSpPr>
        <p:spPr>
          <a:xfrm>
            <a:off x="731520" y="496519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ulcers, classify ulcers and write management.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52164C3-8E19-4247-88C9-4709CFAAE2FD}"/>
              </a:ext>
            </a:extLst>
          </p:cNvPr>
          <p:cNvSpPr>
            <a:spLocks noGrp="1"/>
          </p:cNvSpPr>
          <p:nvPr/>
        </p:nvSpPr>
        <p:spPr>
          <a:xfrm>
            <a:off x="6195060" y="4251960"/>
            <a:ext cx="5463540" cy="2331720"/>
          </a:xfrm>
          <a:prstGeom prst="roundRect">
            <a:avLst>
              <a:gd name="adj" fmla="val 3137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E7E2BF73-DD1F-4DBA-80A5-AA6D5CF581A9}"/>
              </a:ext>
            </a:extLst>
          </p:cNvPr>
          <p:cNvSpPr>
            <a:spLocks noGrp="1"/>
          </p:cNvSpPr>
          <p:nvPr/>
        </p:nvSpPr>
        <p:spPr>
          <a:xfrm>
            <a:off x="6423660" y="445312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47C29FD-9FEA-4A2F-8B67-4D6EA7E29BBE}"/>
              </a:ext>
            </a:extLst>
          </p:cNvPr>
          <p:cNvSpPr>
            <a:spLocks noGrp="1"/>
          </p:cNvSpPr>
          <p:nvPr/>
        </p:nvSpPr>
        <p:spPr>
          <a:xfrm>
            <a:off x="6423660" y="445312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2019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B1BE06B-8071-4DAE-845E-20D0E44D6640}"/>
              </a:ext>
            </a:extLst>
          </p:cNvPr>
          <p:cNvSpPr>
            <a:spLocks noGrp="1"/>
          </p:cNvSpPr>
          <p:nvPr/>
        </p:nvSpPr>
        <p:spPr>
          <a:xfrm>
            <a:off x="6423660" y="4965192"/>
            <a:ext cx="50063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ulcer. Explain the types and write in detail about varicose ulcers.</a:t>
            </a:r>
          </a:p>
        </p:txBody>
      </p:sp>
    </p:spTree>
    <p:extLst>
      <p:ext uri="{BB962C8B-B14F-4D97-AF65-F5344CB8AC3E}">
        <p14:creationId xmlns:p14="http://schemas.microsoft.com/office/powerpoint/2010/main" val="1000031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81C180-DEA1-48E1-BFDB-64DD66A80A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A74D77-B014-4688-88F7-FCEA574D10B5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685800" cy="68580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1663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4E3E81B-00A5-4E27-86DD-7449BE92542B}"/>
              </a:ext>
            </a:extLst>
          </p:cNvPr>
          <p:cNvSpPr>
            <a:spLocks noGrp="1"/>
          </p:cNvSpPr>
          <p:nvPr/>
        </p:nvSpPr>
        <p:spPr>
          <a:xfrm>
            <a:off x="141732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Smaller Repeat Topics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6916986-7AA0-46F7-8EDA-A91534E091E1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4682FB2-F091-4F42-BA5B-C6D8FDF826C6}"/>
              </a:ext>
            </a:extLst>
          </p:cNvPr>
          <p:cNvSpPr>
            <a:spLocks noGrp="1"/>
          </p:cNvSpPr>
          <p:nvPr/>
        </p:nvSpPr>
        <p:spPr>
          <a:xfrm>
            <a:off x="1435608" y="822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Refractive errors, haemorrhage and cataract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729A954-82D1-4DB2-8658-DD954F66D9BE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D77AC4A-773E-457A-9C0C-72BA9BBAC025}"/>
              </a:ext>
            </a:extLst>
          </p:cNvPr>
          <p:cNvSpPr>
            <a:spLocks noGrp="1"/>
          </p:cNvSpPr>
          <p:nvPr/>
        </p:nvSpPr>
        <p:spPr>
          <a:xfrm>
            <a:off x="777240" y="224790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0A95D3D-357F-45DA-83F5-20F20BCE2D6C}"/>
              </a:ext>
            </a:extLst>
          </p:cNvPr>
          <p:cNvSpPr>
            <a:spLocks noGrp="1"/>
          </p:cNvSpPr>
          <p:nvPr/>
        </p:nvSpPr>
        <p:spPr>
          <a:xfrm>
            <a:off x="777240" y="22479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Refractive Errors</a:t>
            </a:r>
          </a:p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TIMES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AB547A8-F82C-46CA-A359-748D4A53A67A}"/>
              </a:ext>
            </a:extLst>
          </p:cNvPr>
          <p:cNvSpPr>
            <a:spLocks noGrp="1"/>
          </p:cNvSpPr>
          <p:nvPr/>
        </p:nvSpPr>
        <p:spPr>
          <a:xfrm>
            <a:off x="2331720" y="1691640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Aug 2011, Feb 2014, Aug 2019: Explain refractive errors / errors of refraction and management.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BAB8A1A-EA71-44C6-8F46-CBFB3C337063}"/>
              </a:ext>
            </a:extLst>
          </p:cNvPr>
          <p:cNvSpPr>
            <a:spLocks noGrp="1"/>
          </p:cNvSpPr>
          <p:nvPr/>
        </p:nvSpPr>
        <p:spPr>
          <a:xfrm>
            <a:off x="502920" y="3389376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79AEE06-6FF3-46D9-9705-55704675DA13}"/>
              </a:ext>
            </a:extLst>
          </p:cNvPr>
          <p:cNvSpPr>
            <a:spLocks noGrp="1"/>
          </p:cNvSpPr>
          <p:nvPr/>
        </p:nvSpPr>
        <p:spPr>
          <a:xfrm>
            <a:off x="777240" y="3945636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FCD9BB3-36E9-4569-BC6C-8D1881846A35}"/>
              </a:ext>
            </a:extLst>
          </p:cNvPr>
          <p:cNvSpPr>
            <a:spLocks noGrp="1"/>
          </p:cNvSpPr>
          <p:nvPr/>
        </p:nvSpPr>
        <p:spPr>
          <a:xfrm>
            <a:off x="777240" y="3945636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Haemorrhage</a:t>
            </a:r>
          </a:p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TIMES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20D08E2-C229-424B-89F8-BD1F20C96DC0}"/>
              </a:ext>
            </a:extLst>
          </p:cNvPr>
          <p:cNvSpPr>
            <a:spLocks noGrp="1"/>
          </p:cNvSpPr>
          <p:nvPr/>
        </p:nvSpPr>
        <p:spPr>
          <a:xfrm>
            <a:off x="2331720" y="3389376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Aug 2013, Feb 2016: Define and classify haemorrhage; write causes, clinical features, assessment and management.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BFF2C36-8B90-4BC8-A1D9-F68A5ECF50B9}"/>
              </a:ext>
            </a:extLst>
          </p:cNvPr>
          <p:cNvSpPr>
            <a:spLocks noGrp="1"/>
          </p:cNvSpPr>
          <p:nvPr/>
        </p:nvSpPr>
        <p:spPr>
          <a:xfrm>
            <a:off x="502920" y="5087112"/>
            <a:ext cx="11155680" cy="1496568"/>
          </a:xfrm>
          <a:prstGeom prst="roundRect">
            <a:avLst>
              <a:gd name="adj" fmla="val 4888"/>
            </a:avLst>
          </a:prstGeom>
          <a:solidFill>
            <a:srgbClr val="F0F9F8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32A466E-6C4A-4493-98A3-F063F42BA9DD}"/>
              </a:ext>
            </a:extLst>
          </p:cNvPr>
          <p:cNvSpPr>
            <a:spLocks noGrp="1"/>
          </p:cNvSpPr>
          <p:nvPr/>
        </p:nvSpPr>
        <p:spPr>
          <a:xfrm>
            <a:off x="777240" y="564337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B51C7DF-F24B-4849-872C-6407FC66A837}"/>
              </a:ext>
            </a:extLst>
          </p:cNvPr>
          <p:cNvSpPr>
            <a:spLocks noGrp="1"/>
          </p:cNvSpPr>
          <p:nvPr/>
        </p:nvSpPr>
        <p:spPr>
          <a:xfrm>
            <a:off x="777240" y="56433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Cataract</a:t>
            </a:r>
          </a:p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TIMES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F321F0E-3977-4214-AE47-E2F040ACF4BA}"/>
              </a:ext>
            </a:extLst>
          </p:cNvPr>
          <p:cNvSpPr>
            <a:spLocks noGrp="1"/>
          </p:cNvSpPr>
          <p:nvPr/>
        </p:nvSpPr>
        <p:spPr>
          <a:xfrm>
            <a:off x="2331720" y="5087112"/>
            <a:ext cx="9006840" cy="14965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Feb 2018, Mar 2021: Define cataract and explain types, etiology, pathology, classification, clinical features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362294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FE5CD3-39C6-4D57-ACAA-5AB009F6BD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8E842F-E48C-4C40-B47D-A71D9B0A44E1}"/>
              </a:ext>
            </a:extLst>
          </p:cNvPr>
          <p:cNvSpPr>
            <a:spLocks noGrp="1"/>
          </p:cNvSpPr>
          <p:nvPr/>
        </p:nvSpPr>
        <p:spPr>
          <a:xfrm>
            <a:off x="502920" y="301752"/>
            <a:ext cx="640080" cy="64008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7200"/>
            <a:ext cx="329184" cy="32918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C8A2DE8-BB2C-4CAD-9B2C-1AE8F5B00CE1}"/>
              </a:ext>
            </a:extLst>
          </p:cNvPr>
          <p:cNvSpPr>
            <a:spLocks noGrp="1"/>
          </p:cNvSpPr>
          <p:nvPr/>
        </p:nvSpPr>
        <p:spPr>
          <a:xfrm>
            <a:off x="137160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Single-Occurrence Essay Topics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5F11DF0-8836-4012-8D21-6917E4176A87}"/>
              </a:ext>
            </a:extLst>
          </p:cNvPr>
          <p:cNvSpPr>
            <a:spLocks noGrp="1"/>
          </p:cNvSpPr>
          <p:nvPr/>
        </p:nvSpPr>
        <p:spPr>
          <a:xfrm>
            <a:off x="1371600" y="685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Asked once each | part 1 of 2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F8B722A-6012-4264-B5A6-80F4D2FFAC27}"/>
              </a:ext>
            </a:extLst>
          </p:cNvPr>
          <p:cNvSpPr>
            <a:spLocks noGrp="1"/>
          </p:cNvSpPr>
          <p:nvPr/>
        </p:nvSpPr>
        <p:spPr>
          <a:xfrm>
            <a:off x="457200" y="1508760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3B6BAD1-23FC-4FEF-904D-12B60D36D2E7}"/>
              </a:ext>
            </a:extLst>
          </p:cNvPr>
          <p:cNvSpPr>
            <a:spLocks noGrp="1"/>
          </p:cNvSpPr>
          <p:nvPr/>
        </p:nvSpPr>
        <p:spPr>
          <a:xfrm>
            <a:off x="713232" y="1508760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Tetanus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2009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8D6A87D-7EDC-4E31-A2BC-648A2B84E29B}"/>
              </a:ext>
            </a:extLst>
          </p:cNvPr>
          <p:cNvSpPr>
            <a:spLocks noGrp="1"/>
          </p:cNvSpPr>
          <p:nvPr/>
        </p:nvSpPr>
        <p:spPr>
          <a:xfrm>
            <a:off x="3154680" y="1618488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631B86D-050F-40E7-8326-711C7DACF156}"/>
              </a:ext>
            </a:extLst>
          </p:cNvPr>
          <p:cNvSpPr>
            <a:spLocks noGrp="1"/>
          </p:cNvSpPr>
          <p:nvPr/>
        </p:nvSpPr>
        <p:spPr>
          <a:xfrm>
            <a:off x="3383280" y="1508760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Pathogenesis, signs and symptoms, treatment and prophylactic treatment for tetanus.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47542FC-4AF4-4F12-A319-BFF1AC0511B1}"/>
              </a:ext>
            </a:extLst>
          </p:cNvPr>
          <p:cNvSpPr>
            <a:spLocks noGrp="1"/>
          </p:cNvSpPr>
          <p:nvPr/>
        </p:nvSpPr>
        <p:spPr>
          <a:xfrm>
            <a:off x="457200" y="2553005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84ADEC1-7E17-42CB-A9E9-91C33558A250}"/>
              </a:ext>
            </a:extLst>
          </p:cNvPr>
          <p:cNvSpPr>
            <a:spLocks noGrp="1"/>
          </p:cNvSpPr>
          <p:nvPr/>
        </p:nvSpPr>
        <p:spPr>
          <a:xfrm>
            <a:off x="713232" y="2553005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Hodgkin's Disease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2009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13F624D-F50A-4676-B4F8-6A05EED14F44}"/>
              </a:ext>
            </a:extLst>
          </p:cNvPr>
          <p:cNvSpPr>
            <a:spLocks noGrp="1"/>
          </p:cNvSpPr>
          <p:nvPr/>
        </p:nvSpPr>
        <p:spPr>
          <a:xfrm>
            <a:off x="3154680" y="2662733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CDC8FD0-E72A-4797-ACFE-07458D1F01B0}"/>
              </a:ext>
            </a:extLst>
          </p:cNvPr>
          <p:cNvSpPr>
            <a:spLocks noGrp="1"/>
          </p:cNvSpPr>
          <p:nvPr/>
        </p:nvSpPr>
        <p:spPr>
          <a:xfrm>
            <a:off x="3383280" y="2553005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Pathology, clinical features, staging and special investigations leading to treatment.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F03216F-EFA4-4039-A160-76888DFECBFD}"/>
              </a:ext>
            </a:extLst>
          </p:cNvPr>
          <p:cNvSpPr>
            <a:spLocks noGrp="1"/>
          </p:cNvSpPr>
          <p:nvPr/>
        </p:nvSpPr>
        <p:spPr>
          <a:xfrm>
            <a:off x="457200" y="3597250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BB0BF0D-C978-44C8-A836-592BBC6C8D1C}"/>
              </a:ext>
            </a:extLst>
          </p:cNvPr>
          <p:cNvSpPr>
            <a:spLocks noGrp="1"/>
          </p:cNvSpPr>
          <p:nvPr/>
        </p:nvSpPr>
        <p:spPr>
          <a:xfrm>
            <a:off x="713232" y="3597250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Arterial Embolism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FEB 2010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ED0D7B1-31B0-40A0-8AD2-73B3E09717A9}"/>
              </a:ext>
            </a:extLst>
          </p:cNvPr>
          <p:cNvSpPr>
            <a:spLocks noGrp="1"/>
          </p:cNvSpPr>
          <p:nvPr/>
        </p:nvSpPr>
        <p:spPr>
          <a:xfrm>
            <a:off x="3154680" y="3706978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270E104-47BF-4F9D-B11E-48082654C56F}"/>
              </a:ext>
            </a:extLst>
          </p:cNvPr>
          <p:cNvSpPr>
            <a:spLocks noGrp="1"/>
          </p:cNvSpPr>
          <p:nvPr/>
        </p:nvSpPr>
        <p:spPr>
          <a:xfrm>
            <a:off x="3383280" y="3597250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about the effects and investigations of arterial embolism.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EDCD225-1FE3-4F40-8120-8DC70469997D}"/>
              </a:ext>
            </a:extLst>
          </p:cNvPr>
          <p:cNvSpPr>
            <a:spLocks noGrp="1"/>
          </p:cNvSpPr>
          <p:nvPr/>
        </p:nvSpPr>
        <p:spPr>
          <a:xfrm>
            <a:off x="457200" y="4641494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DEF96D8-5C30-48BF-9703-9F4DB091A2E4}"/>
              </a:ext>
            </a:extLst>
          </p:cNvPr>
          <p:cNvSpPr>
            <a:spLocks noGrp="1"/>
          </p:cNvSpPr>
          <p:nvPr/>
        </p:nvSpPr>
        <p:spPr>
          <a:xfrm>
            <a:off x="713232" y="4641494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Hernia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2014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572ABEA-49CD-4069-B7FF-12E6DB2D7EE3}"/>
              </a:ext>
            </a:extLst>
          </p:cNvPr>
          <p:cNvSpPr>
            <a:spLocks noGrp="1"/>
          </p:cNvSpPr>
          <p:nvPr/>
        </p:nvSpPr>
        <p:spPr>
          <a:xfrm>
            <a:off x="3154680" y="4751222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586D985-EC55-4488-B7DB-270AC91C9F40}"/>
              </a:ext>
            </a:extLst>
          </p:cNvPr>
          <p:cNvSpPr>
            <a:spLocks noGrp="1"/>
          </p:cNvSpPr>
          <p:nvPr/>
        </p:nvSpPr>
        <p:spPr>
          <a:xfrm>
            <a:off x="3383280" y="4641494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hernia and explain composition, classification and treatment.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15DF0CF-7860-42C8-AFA3-5D54D8DBAEBF}"/>
              </a:ext>
            </a:extLst>
          </p:cNvPr>
          <p:cNvSpPr>
            <a:spLocks noGrp="1"/>
          </p:cNvSpPr>
          <p:nvPr/>
        </p:nvSpPr>
        <p:spPr>
          <a:xfrm>
            <a:off x="457200" y="5685739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2857DCF-7BD4-426C-8C84-F3F9F71EB4E8}"/>
              </a:ext>
            </a:extLst>
          </p:cNvPr>
          <p:cNvSpPr>
            <a:spLocks noGrp="1"/>
          </p:cNvSpPr>
          <p:nvPr/>
        </p:nvSpPr>
        <p:spPr>
          <a:xfrm>
            <a:off x="713232" y="5685739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Gastric Ulcer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2014</a:t>
            </a: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4AD88BB5-52BB-47DA-BB56-680462453E9D}"/>
              </a:ext>
            </a:extLst>
          </p:cNvPr>
          <p:cNvSpPr>
            <a:spLocks noGrp="1"/>
          </p:cNvSpPr>
          <p:nvPr/>
        </p:nvSpPr>
        <p:spPr>
          <a:xfrm>
            <a:off x="3154680" y="5795467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8CAA1CC-7599-4FA8-BB4B-844ED4FEE6CF}"/>
              </a:ext>
            </a:extLst>
          </p:cNvPr>
          <p:cNvSpPr>
            <a:spLocks noGrp="1"/>
          </p:cNvSpPr>
          <p:nvPr/>
        </p:nvSpPr>
        <p:spPr>
          <a:xfrm>
            <a:off x="3383280" y="5685739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Explain gastric ulcer, diagnosis, treatment and complications.</a:t>
            </a:r>
          </a:p>
        </p:txBody>
      </p:sp>
    </p:spTree>
    <p:extLst>
      <p:ext uri="{BB962C8B-B14F-4D97-AF65-F5344CB8AC3E}">
        <p14:creationId xmlns:p14="http://schemas.microsoft.com/office/powerpoint/2010/main" val="1661012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FE5CD3-39C6-4D57-ACAA-5AB009F6BD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8E842F-E48C-4C40-B47D-A71D9B0A44E1}"/>
              </a:ext>
            </a:extLst>
          </p:cNvPr>
          <p:cNvSpPr>
            <a:spLocks noGrp="1"/>
          </p:cNvSpPr>
          <p:nvPr/>
        </p:nvSpPr>
        <p:spPr>
          <a:xfrm>
            <a:off x="502920" y="301752"/>
            <a:ext cx="640080" cy="64008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7200"/>
            <a:ext cx="329184" cy="32918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C8A2DE8-BB2C-4CAD-9B2C-1AE8F5B00CE1}"/>
              </a:ext>
            </a:extLst>
          </p:cNvPr>
          <p:cNvSpPr>
            <a:spLocks noGrp="1"/>
          </p:cNvSpPr>
          <p:nvPr/>
        </p:nvSpPr>
        <p:spPr>
          <a:xfrm>
            <a:off x="137160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Single-Occurrence Essay Topics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5F11DF0-8836-4012-8D21-6917E4176A87}"/>
              </a:ext>
            </a:extLst>
          </p:cNvPr>
          <p:cNvSpPr>
            <a:spLocks noGrp="1"/>
          </p:cNvSpPr>
          <p:nvPr/>
        </p:nvSpPr>
        <p:spPr>
          <a:xfrm>
            <a:off x="1371600" y="685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Asked once each | part 2 of 2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F8B722A-6012-4264-B5A6-80F4D2FFAC27}"/>
              </a:ext>
            </a:extLst>
          </p:cNvPr>
          <p:cNvSpPr>
            <a:spLocks noGrp="1"/>
          </p:cNvSpPr>
          <p:nvPr/>
        </p:nvSpPr>
        <p:spPr>
          <a:xfrm>
            <a:off x="457200" y="1508760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3B6BAD1-23FC-4FEF-904D-12B60D36D2E7}"/>
              </a:ext>
            </a:extLst>
          </p:cNvPr>
          <p:cNvSpPr>
            <a:spLocks noGrp="1"/>
          </p:cNvSpPr>
          <p:nvPr/>
        </p:nvSpPr>
        <p:spPr>
          <a:xfrm>
            <a:off x="713232" y="1508760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Fractures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FEB 2016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8D6A87D-7EDC-4E31-A2BC-648A2B84E29B}"/>
              </a:ext>
            </a:extLst>
          </p:cNvPr>
          <p:cNvSpPr>
            <a:spLocks noGrp="1"/>
          </p:cNvSpPr>
          <p:nvPr/>
        </p:nvSpPr>
        <p:spPr>
          <a:xfrm>
            <a:off x="3154680" y="1618488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631B86D-050F-40E7-8326-711C7DACF156}"/>
              </a:ext>
            </a:extLst>
          </p:cNvPr>
          <p:cNvSpPr>
            <a:spLocks noGrp="1"/>
          </p:cNvSpPr>
          <p:nvPr/>
        </p:nvSpPr>
        <p:spPr>
          <a:xfrm>
            <a:off x="3383280" y="1508760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Define, classify, symptoms and management of fractures.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47542FC-4AF4-4F12-A319-BFF1AC0511B1}"/>
              </a:ext>
            </a:extLst>
          </p:cNvPr>
          <p:cNvSpPr>
            <a:spLocks noGrp="1"/>
          </p:cNvSpPr>
          <p:nvPr/>
        </p:nvSpPr>
        <p:spPr>
          <a:xfrm>
            <a:off x="457200" y="2553005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84ADEC1-7E17-42CB-A9E9-91C33558A250}"/>
              </a:ext>
            </a:extLst>
          </p:cNvPr>
          <p:cNvSpPr>
            <a:spLocks noGrp="1"/>
          </p:cNvSpPr>
          <p:nvPr/>
        </p:nvSpPr>
        <p:spPr>
          <a:xfrm>
            <a:off x="713232" y="2553005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Keratitis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2018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13F624D-F50A-4676-B4F8-6A05EED14F44}"/>
              </a:ext>
            </a:extLst>
          </p:cNvPr>
          <p:cNvSpPr>
            <a:spLocks noGrp="1"/>
          </p:cNvSpPr>
          <p:nvPr/>
        </p:nvSpPr>
        <p:spPr>
          <a:xfrm>
            <a:off x="3154680" y="2662733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CDC8FD0-E72A-4797-ACFE-07458D1F01B0}"/>
              </a:ext>
            </a:extLst>
          </p:cNvPr>
          <p:cNvSpPr>
            <a:spLocks noGrp="1"/>
          </p:cNvSpPr>
          <p:nvPr/>
        </p:nvSpPr>
        <p:spPr>
          <a:xfrm>
            <a:off x="3383280" y="2553005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keratitis. Classify it and explain purulent keratitis with complications.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F03216F-EFA4-4039-A160-76888DFECBFD}"/>
              </a:ext>
            </a:extLst>
          </p:cNvPr>
          <p:cNvSpPr>
            <a:spLocks noGrp="1"/>
          </p:cNvSpPr>
          <p:nvPr/>
        </p:nvSpPr>
        <p:spPr>
          <a:xfrm>
            <a:off x="457200" y="3597250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BB0BF0D-C978-44C8-A836-592BBC6C8D1C}"/>
              </a:ext>
            </a:extLst>
          </p:cNvPr>
          <p:cNvSpPr>
            <a:spLocks noGrp="1"/>
          </p:cNvSpPr>
          <p:nvPr/>
        </p:nvSpPr>
        <p:spPr>
          <a:xfrm>
            <a:off x="713232" y="3597250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Gangrene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2019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ED0D7B1-31B0-40A0-8AD2-73B3E09717A9}"/>
              </a:ext>
            </a:extLst>
          </p:cNvPr>
          <p:cNvSpPr>
            <a:spLocks noGrp="1"/>
          </p:cNvSpPr>
          <p:nvPr/>
        </p:nvSpPr>
        <p:spPr>
          <a:xfrm>
            <a:off x="3154680" y="3706978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270E104-47BF-4F9D-B11E-48082654C56F}"/>
              </a:ext>
            </a:extLst>
          </p:cNvPr>
          <p:cNvSpPr>
            <a:spLocks noGrp="1"/>
          </p:cNvSpPr>
          <p:nvPr/>
        </p:nvSpPr>
        <p:spPr>
          <a:xfrm>
            <a:off x="3383280" y="3597250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gangrene. Explain types, pathogenesis, clinical features and management.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EDCD225-1FE3-4F40-8120-8DC70469997D}"/>
              </a:ext>
            </a:extLst>
          </p:cNvPr>
          <p:cNvSpPr>
            <a:spLocks noGrp="1"/>
          </p:cNvSpPr>
          <p:nvPr/>
        </p:nvSpPr>
        <p:spPr>
          <a:xfrm>
            <a:off x="457200" y="4641494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DEF96D8-5C30-48BF-9703-9F4DB091A2E4}"/>
              </a:ext>
            </a:extLst>
          </p:cNvPr>
          <p:cNvSpPr>
            <a:spLocks noGrp="1"/>
          </p:cNvSpPr>
          <p:nvPr/>
        </p:nvSpPr>
        <p:spPr>
          <a:xfrm>
            <a:off x="713232" y="4641494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Malignant Tumours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FEB 2020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572ABEA-49CD-4069-B7FF-12E6DB2D7EE3}"/>
              </a:ext>
            </a:extLst>
          </p:cNvPr>
          <p:cNvSpPr>
            <a:spLocks noGrp="1"/>
          </p:cNvSpPr>
          <p:nvPr/>
        </p:nvSpPr>
        <p:spPr>
          <a:xfrm>
            <a:off x="3154680" y="4751222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586D985-EC55-4488-B7DB-270AC91C9F40}"/>
              </a:ext>
            </a:extLst>
          </p:cNvPr>
          <p:cNvSpPr>
            <a:spLocks noGrp="1"/>
          </p:cNvSpPr>
          <p:nvPr/>
        </p:nvSpPr>
        <p:spPr>
          <a:xfrm>
            <a:off x="3383280" y="4641494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tumour. Write etiology, types and spread of malignant tumours.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15DF0CF-7860-42C8-AFA3-5D54D8DBAEBF}"/>
              </a:ext>
            </a:extLst>
          </p:cNvPr>
          <p:cNvSpPr>
            <a:spLocks noGrp="1"/>
          </p:cNvSpPr>
          <p:nvPr/>
        </p:nvSpPr>
        <p:spPr>
          <a:xfrm>
            <a:off x="457200" y="5685739"/>
            <a:ext cx="11247120" cy="897941"/>
          </a:xfrm>
          <a:prstGeom prst="roundRect">
            <a:avLst>
              <a:gd name="adj" fmla="val 7128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2857DCF-7BD4-426C-8C84-F3F9F71EB4E8}"/>
              </a:ext>
            </a:extLst>
          </p:cNvPr>
          <p:cNvSpPr>
            <a:spLocks noGrp="1"/>
          </p:cNvSpPr>
          <p:nvPr/>
        </p:nvSpPr>
        <p:spPr>
          <a:xfrm>
            <a:off x="713232" y="5685739"/>
            <a:ext cx="228600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Quick pass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AFTER REPEATS</a:t>
            </a: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4AD88BB5-52BB-47DA-BB56-680462453E9D}"/>
              </a:ext>
            </a:extLst>
          </p:cNvPr>
          <p:cNvSpPr>
            <a:spLocks noGrp="1"/>
          </p:cNvSpPr>
          <p:nvPr/>
        </p:nvSpPr>
        <p:spPr>
          <a:xfrm>
            <a:off x="3154680" y="5795467"/>
            <a:ext cx="0" cy="678485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8CAA1CC-7599-4FA8-BB4B-844ED4FEE6CF}"/>
              </a:ext>
            </a:extLst>
          </p:cNvPr>
          <p:cNvSpPr>
            <a:spLocks noGrp="1"/>
          </p:cNvSpPr>
          <p:nvPr/>
        </p:nvSpPr>
        <p:spPr>
          <a:xfrm>
            <a:off x="3383280" y="5685739"/>
            <a:ext cx="8046720" cy="8979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Revise these after the repeated topics; they are lower frequency but still exam-relevant.</a:t>
            </a:r>
          </a:p>
        </p:txBody>
      </p:sp>
    </p:spTree>
    <p:extLst>
      <p:ext uri="{BB962C8B-B14F-4D97-AF65-F5344CB8AC3E}">
        <p14:creationId xmlns:p14="http://schemas.microsoft.com/office/powerpoint/2010/main" val="1661012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E88DCC-BC2A-43B4-8C67-11E6B70D68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D08A3D-5B99-4B54-A743-1B540C9AF01C}"/>
              </a:ext>
            </a:extLst>
          </p:cNvPr>
          <p:cNvSpPr>
            <a:spLocks noGrp="1"/>
          </p:cNvSpPr>
          <p:nvPr/>
        </p:nvSpPr>
        <p:spPr>
          <a:xfrm>
            <a:off x="502920" y="301752"/>
            <a:ext cx="640080" cy="64008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7200"/>
            <a:ext cx="329184" cy="32918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91393E6-53EC-4729-877F-99B2D0F7DC01}"/>
              </a:ext>
            </a:extLst>
          </p:cNvPr>
          <p:cNvSpPr>
            <a:spLocks noGrp="1"/>
          </p:cNvSpPr>
          <p:nvPr/>
        </p:nvSpPr>
        <p:spPr>
          <a:xfrm>
            <a:off x="137160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Quick Priority Summary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553B8D7-C429-4228-BAED-2E8B6E25D993}"/>
              </a:ext>
            </a:extLst>
          </p:cNvPr>
          <p:cNvSpPr>
            <a:spLocks noGrp="1"/>
          </p:cNvSpPr>
          <p:nvPr/>
        </p:nvSpPr>
        <p:spPr>
          <a:xfrm>
            <a:off x="1371600" y="685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Frequency table grouped for fast revision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36AF644-567C-4C0F-8C24-F158D64648F2}"/>
              </a:ext>
            </a:extLst>
          </p:cNvPr>
          <p:cNvSpPr>
            <a:spLocks noGrp="1"/>
          </p:cNvSpPr>
          <p:nvPr/>
        </p:nvSpPr>
        <p:spPr>
          <a:xfrm>
            <a:off x="457200" y="1508760"/>
            <a:ext cx="11247120" cy="1159002"/>
          </a:xfrm>
          <a:prstGeom prst="roundRect">
            <a:avLst>
              <a:gd name="adj" fmla="val 5523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8883DA0-D9C3-4F89-8046-9D0B1FEF9201}"/>
              </a:ext>
            </a:extLst>
          </p:cNvPr>
          <p:cNvSpPr>
            <a:spLocks noGrp="1"/>
          </p:cNvSpPr>
          <p:nvPr/>
        </p:nvSpPr>
        <p:spPr>
          <a:xfrm>
            <a:off x="713232" y="1508760"/>
            <a:ext cx="2286000" cy="1159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Rank 1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Conjunctivitis - 8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52CCFAE-158E-4848-A193-A055CB7490E0}"/>
              </a:ext>
            </a:extLst>
          </p:cNvPr>
          <p:cNvSpPr>
            <a:spLocks noGrp="1"/>
          </p:cNvSpPr>
          <p:nvPr/>
        </p:nvSpPr>
        <p:spPr>
          <a:xfrm>
            <a:off x="3154680" y="1618488"/>
            <a:ext cx="0" cy="939546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C4FA3E7-81BB-4BF0-B079-697ED224A402}"/>
              </a:ext>
            </a:extLst>
          </p:cNvPr>
          <p:cNvSpPr>
            <a:spLocks noGrp="1"/>
          </p:cNvSpPr>
          <p:nvPr/>
        </p:nvSpPr>
        <p:spPr>
          <a:xfrm>
            <a:off x="3383280" y="1508760"/>
            <a:ext cx="8046720" cy="1159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Highest priority. Classification, infective conjunctivitis and acute catarrhal conjunctivitis repeat most.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08F7AEA-5AB0-4966-91D0-2C910CB5E812}"/>
              </a:ext>
            </a:extLst>
          </p:cNvPr>
          <p:cNvSpPr>
            <a:spLocks noGrp="1"/>
          </p:cNvSpPr>
          <p:nvPr/>
        </p:nvSpPr>
        <p:spPr>
          <a:xfrm>
            <a:off x="457200" y="2814066"/>
            <a:ext cx="11247120" cy="1159002"/>
          </a:xfrm>
          <a:prstGeom prst="roundRect">
            <a:avLst>
              <a:gd name="adj" fmla="val 5523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87692E8-4370-4A45-9C73-8A1F9352C86C}"/>
              </a:ext>
            </a:extLst>
          </p:cNvPr>
          <p:cNvSpPr>
            <a:spLocks noGrp="1"/>
          </p:cNvSpPr>
          <p:nvPr/>
        </p:nvSpPr>
        <p:spPr>
          <a:xfrm>
            <a:off x="713232" y="2814066"/>
            <a:ext cx="2286000" cy="1159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Ranks 2-3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Shock - 7 | Burns - 6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4FB8A91-43F8-49B3-A4B5-65467D3A6F16}"/>
              </a:ext>
            </a:extLst>
          </p:cNvPr>
          <p:cNvSpPr>
            <a:spLocks noGrp="1"/>
          </p:cNvSpPr>
          <p:nvPr/>
        </p:nvSpPr>
        <p:spPr>
          <a:xfrm>
            <a:off x="3154680" y="2923794"/>
            <a:ext cx="0" cy="939546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107B8B7-29C3-48D7-9326-3E975F036E30}"/>
              </a:ext>
            </a:extLst>
          </p:cNvPr>
          <p:cNvSpPr>
            <a:spLocks noGrp="1"/>
          </p:cNvSpPr>
          <p:nvPr/>
        </p:nvSpPr>
        <p:spPr>
          <a:xfrm>
            <a:off x="3383280" y="2814066"/>
            <a:ext cx="8046720" cy="1159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Core surgery topics. Prepare definitions, classifications, pathophysiology, clinical features and management.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F06DAF1-58C3-4FCE-B93C-A97FF7E132D9}"/>
              </a:ext>
            </a:extLst>
          </p:cNvPr>
          <p:cNvSpPr>
            <a:spLocks noGrp="1"/>
          </p:cNvSpPr>
          <p:nvPr/>
        </p:nvSpPr>
        <p:spPr>
          <a:xfrm>
            <a:off x="457200" y="4119372"/>
            <a:ext cx="11247120" cy="1159002"/>
          </a:xfrm>
          <a:prstGeom prst="roundRect">
            <a:avLst>
              <a:gd name="adj" fmla="val 5523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61ADD64-7FC7-4696-BC2A-5039E538B11F}"/>
              </a:ext>
            </a:extLst>
          </p:cNvPr>
          <p:cNvSpPr>
            <a:spLocks noGrp="1"/>
          </p:cNvSpPr>
          <p:nvPr/>
        </p:nvSpPr>
        <p:spPr>
          <a:xfrm>
            <a:off x="713232" y="4119372"/>
            <a:ext cx="2286000" cy="1159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Ranks 4-6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Glaucoma - 5 | Varicose Veins - 5 | Ulcer - 4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F282E51-2A0F-40E5-AF2F-8C1996834C20}"/>
              </a:ext>
            </a:extLst>
          </p:cNvPr>
          <p:cNvSpPr>
            <a:spLocks noGrp="1"/>
          </p:cNvSpPr>
          <p:nvPr/>
        </p:nvSpPr>
        <p:spPr>
          <a:xfrm>
            <a:off x="3154680" y="4229100"/>
            <a:ext cx="0" cy="939546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513A028-53A1-4ADF-8ED2-F409F8FF6FF6}"/>
              </a:ext>
            </a:extLst>
          </p:cNvPr>
          <p:cNvSpPr>
            <a:spLocks noGrp="1"/>
          </p:cNvSpPr>
          <p:nvPr/>
        </p:nvSpPr>
        <p:spPr>
          <a:xfrm>
            <a:off x="3383280" y="4119372"/>
            <a:ext cx="8046720" cy="1159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Strong repeat zone. Learn types, investigations, complications and management patterns.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31FF96B-B862-453C-9DED-460817CB9339}"/>
              </a:ext>
            </a:extLst>
          </p:cNvPr>
          <p:cNvSpPr>
            <a:spLocks noGrp="1"/>
          </p:cNvSpPr>
          <p:nvPr/>
        </p:nvSpPr>
        <p:spPr>
          <a:xfrm>
            <a:off x="457200" y="5424678"/>
            <a:ext cx="11247120" cy="1159002"/>
          </a:xfrm>
          <a:prstGeom prst="roundRect">
            <a:avLst>
              <a:gd name="adj" fmla="val 5523"/>
            </a:avLst>
          </a:prstGeom>
          <a:solidFill>
            <a:srgbClr val="F0F9F8"/>
          </a:solidFill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31722CD-FECF-4801-9EFE-3343CF3AF6FE}"/>
              </a:ext>
            </a:extLst>
          </p:cNvPr>
          <p:cNvSpPr>
            <a:spLocks noGrp="1"/>
          </p:cNvSpPr>
          <p:nvPr/>
        </p:nvSpPr>
        <p:spPr>
          <a:xfrm>
            <a:off x="713232" y="5424678"/>
            <a:ext cx="2286000" cy="1159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Ranks 7-9</a:t>
            </a:r>
          </a:p>
          <a:p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Refractive Errors - 3 | Haemorrhage - 2 | Cataract - 2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3687301-5C9C-4B9C-B762-D7334B652184}"/>
              </a:ext>
            </a:extLst>
          </p:cNvPr>
          <p:cNvSpPr>
            <a:spLocks noGrp="1"/>
          </p:cNvSpPr>
          <p:nvPr/>
        </p:nvSpPr>
        <p:spPr>
          <a:xfrm>
            <a:off x="3154680" y="5534406"/>
            <a:ext cx="0" cy="939546"/>
          </a:xfrm>
          <a:prstGeom prst="line">
            <a:avLst/>
          </a:prstGeom>
          <a:noFill/>
          <a:ln w="12700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A0E06AB-5E8C-43B6-BD63-E5F5AF7C9E06}"/>
              </a:ext>
            </a:extLst>
          </p:cNvPr>
          <p:cNvSpPr>
            <a:spLocks noGrp="1"/>
          </p:cNvSpPr>
          <p:nvPr/>
        </p:nvSpPr>
        <p:spPr>
          <a:xfrm>
            <a:off x="3383280" y="5424678"/>
            <a:ext cx="8046720" cy="1159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Shorter repeat zone. Keep definitions, classifications and management frameworks ready.</a:t>
            </a:r>
          </a:p>
        </p:txBody>
      </p:sp>
    </p:spTree>
    <p:extLst>
      <p:ext uri="{BB962C8B-B14F-4D97-AF65-F5344CB8AC3E}">
        <p14:creationId xmlns:p14="http://schemas.microsoft.com/office/powerpoint/2010/main" val="1701015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ECDF28-2CE2-47BD-B488-AE42EFC2F0DA}"/>
              </a:ext>
            </a:extLst>
          </p:cNvPr>
          <p:cNvSpPr>
            <a:spLocks noGrp="1"/>
          </p:cNvSpPr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0A896">
              <a:alpha val="28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F9E627-6746-4939-A6DA-A0EF00C42AF9}"/>
              </a:ext>
            </a:extLst>
          </p:cNvPr>
          <p:cNvSpPr>
            <a:spLocks noGrp="1"/>
          </p:cNvSpPr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02C39A">
              <a:alpha val="25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2230EF-6F98-4248-BFEC-AECD9CDA17E2}"/>
              </a:ext>
            </a:extLst>
          </p:cNvPr>
          <p:cNvSpPr>
            <a:spLocks noGrp="1"/>
          </p:cNvSpPr>
          <p:nvPr/>
        </p:nvSpPr>
        <p:spPr>
          <a:xfrm>
            <a:off x="822960" y="594360"/>
            <a:ext cx="777240" cy="777240"/>
          </a:xfrm>
          <a:prstGeom prst="ellipse">
            <a:avLst/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pic>
        <p:nvPicPr>
          <p:cNvPr id="2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786384"/>
            <a:ext cx="393192" cy="39319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D3CF535-702B-4517-9C2D-B27214965DDE}"/>
              </a:ext>
            </a:extLst>
          </p:cNvPr>
          <p:cNvSpPr>
            <a:spLocks noGrp="1"/>
          </p:cNvSpPr>
          <p:nvPr/>
        </p:nvSpPr>
        <p:spPr>
          <a:xfrm>
            <a:off x="1828800" y="5029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Revision Priority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9023BC7-9A0B-4B45-AC60-3A66CC491AF7}"/>
              </a:ext>
            </a:extLst>
          </p:cNvPr>
          <p:cNvSpPr>
            <a:spLocks noGrp="1"/>
          </p:cNvSpPr>
          <p:nvPr/>
        </p:nvSpPr>
        <p:spPr>
          <a:xfrm>
            <a:off x="822960" y="196596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F002287-958C-45BA-A922-12A8E3D7BD11}"/>
              </a:ext>
            </a:extLst>
          </p:cNvPr>
          <p:cNvSpPr>
            <a:spLocks noGrp="1"/>
          </p:cNvSpPr>
          <p:nvPr/>
        </p:nvSpPr>
        <p:spPr>
          <a:xfrm>
            <a:off x="1078992" y="2221992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Study first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75C4B0F-A542-49C8-8B4B-140FCCB70469}"/>
              </a:ext>
            </a:extLst>
          </p:cNvPr>
          <p:cNvSpPr>
            <a:spLocks noGrp="1"/>
          </p:cNvSpPr>
          <p:nvPr/>
        </p:nvSpPr>
        <p:spPr>
          <a:xfrm>
            <a:off x="1078992" y="26243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Repeated 6-8 times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DB3ECC6-344E-43D5-80D6-9E1993CF4F80}"/>
              </a:ext>
            </a:extLst>
          </p:cNvPr>
          <p:cNvSpPr>
            <a:spLocks noGrp="1"/>
          </p:cNvSpPr>
          <p:nvPr/>
        </p:nvSpPr>
        <p:spPr>
          <a:xfrm>
            <a:off x="1078992" y="3063240"/>
            <a:ext cx="2779776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Conjunctivitis (8)</a:t>
            </a:r>
          </a:p>
          <a:p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Shock (7)</a:t>
            </a:r>
          </a:p>
          <a:p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Burns (6)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42BED98-C360-4851-A637-DC8408C3BCD0}"/>
              </a:ext>
            </a:extLst>
          </p:cNvPr>
          <p:cNvSpPr>
            <a:spLocks noGrp="1"/>
          </p:cNvSpPr>
          <p:nvPr/>
        </p:nvSpPr>
        <p:spPr>
          <a:xfrm>
            <a:off x="4434840" y="196596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5EDF3D5-72E5-45F8-967B-844DD340C111}"/>
              </a:ext>
            </a:extLst>
          </p:cNvPr>
          <p:cNvSpPr>
            <a:spLocks noGrp="1"/>
          </p:cNvSpPr>
          <p:nvPr/>
        </p:nvSpPr>
        <p:spPr>
          <a:xfrm>
            <a:off x="4690872" y="2221992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Study next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3C29C2A-5D03-4F88-A34B-E19A58DE3A74}"/>
              </a:ext>
            </a:extLst>
          </p:cNvPr>
          <p:cNvSpPr>
            <a:spLocks noGrp="1"/>
          </p:cNvSpPr>
          <p:nvPr/>
        </p:nvSpPr>
        <p:spPr>
          <a:xfrm>
            <a:off x="4690872" y="26243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Repeated 4-5 times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FDC12E1-0075-4565-824F-5889F5B933FD}"/>
              </a:ext>
            </a:extLst>
          </p:cNvPr>
          <p:cNvSpPr>
            <a:spLocks noGrp="1"/>
          </p:cNvSpPr>
          <p:nvPr/>
        </p:nvSpPr>
        <p:spPr>
          <a:xfrm>
            <a:off x="4690872" y="3063240"/>
            <a:ext cx="2779776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Glaucoma (5)</a:t>
            </a:r>
          </a:p>
          <a:p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Varicose Veins (5)</a:t>
            </a:r>
          </a:p>
          <a:p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Ulcer (4)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64260C4-4D3F-4304-ACF7-9D897AA5FFB5}"/>
              </a:ext>
            </a:extLst>
          </p:cNvPr>
          <p:cNvSpPr>
            <a:spLocks noGrp="1"/>
          </p:cNvSpPr>
          <p:nvPr/>
        </p:nvSpPr>
        <p:spPr>
          <a:xfrm>
            <a:off x="8046720" y="196596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9C81FEA-ECC1-4308-9EAE-7D26CBCAD6B8}"/>
              </a:ext>
            </a:extLst>
          </p:cNvPr>
          <p:cNvSpPr>
            <a:spLocks noGrp="1"/>
          </p:cNvSpPr>
          <p:nvPr/>
        </p:nvSpPr>
        <p:spPr>
          <a:xfrm>
            <a:off x="8302752" y="2221992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Quick pass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A7B7A98-39E1-4037-80A6-49D9EEF3C7BA}"/>
              </a:ext>
            </a:extLst>
          </p:cNvPr>
          <p:cNvSpPr>
            <a:spLocks noGrp="1"/>
          </p:cNvSpPr>
          <p:nvPr/>
        </p:nvSpPr>
        <p:spPr>
          <a:xfrm>
            <a:off x="8302752" y="26243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Repeated 1-3 times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189CCC8-7EB1-4E09-B044-37628868025E}"/>
              </a:ext>
            </a:extLst>
          </p:cNvPr>
          <p:cNvSpPr>
            <a:spLocks noGrp="1"/>
          </p:cNvSpPr>
          <p:nvPr/>
        </p:nvSpPr>
        <p:spPr>
          <a:xfrm>
            <a:off x="8302752" y="3063240"/>
            <a:ext cx="2779776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Refractive Errors (3)</a:t>
            </a:r>
          </a:p>
          <a:p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Haemorrhage (2), Cataract (2)</a:t>
            </a:r>
          </a:p>
          <a:p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Single-occurrence topics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EF5A0EF-6E92-4370-A744-560D047040D5}"/>
              </a:ext>
            </a:extLst>
          </p:cNvPr>
          <p:cNvSpPr>
            <a:spLocks noGrp="1"/>
          </p:cNvSpPr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Good luck with your exam.</a:t>
            </a:r>
          </a:p>
        </p:txBody>
      </p:sp>
    </p:spTree>
    <p:extLst>
      <p:ext uri="{BB962C8B-B14F-4D97-AF65-F5344CB8AC3E}">
        <p14:creationId xmlns:p14="http://schemas.microsoft.com/office/powerpoint/2010/main" val="1446218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</Words>
  <Application>Microsoft Office PowerPoint</Application>
  <DocSecurity>0</DocSecurity>
  <PresentationFormat>Widescreen</PresentationFormat>
  <Paragraphs>176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Sricharan A</cp:lastModifiedBy>
  <cp:revision>1</cp:revision>
  <dcterms:created xsi:type="dcterms:W3CDTF">2026-07-03T13:16:56Z</dcterms:created>
  <dcterms:modified xsi:type="dcterms:W3CDTF">2026-07-03T13:29:55Z</dcterms:modified>
</cp:coreProperties>
</file>