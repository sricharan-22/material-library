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af2731b27f4e03" /><Relationship Type="http://schemas.openxmlformats.org/officeDocument/2006/relationships/extended-properties" Target="/docProps/app.xml" Id="R1b7ea6294f8042d1" /><Relationship Type="http://schemas.openxmlformats.org/officeDocument/2006/relationships/officeDocument" Target="/ppt/presentation.xml" Id="R8769926c6b2e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f7915e46cb4ff9"/>
  </p:sldMasterIdLst>
  <p:notesMasterIdLst>
    <p:notesMasterId xmlns:r="http://schemas.openxmlformats.org/officeDocument/2006/relationships" r:id="R8bea1b995a6344ad"/>
  </p:notesMasterIdLst>
  <p:sldIdLst>
    <p:sldId xmlns:r="http://schemas.openxmlformats.org/officeDocument/2006/relationships" id="256" r:id="Ra4e54ff3e312466b"/>
    <p:sldId xmlns:r="http://schemas.openxmlformats.org/officeDocument/2006/relationships" id="257" r:id="R7ea21b9264d84974"/>
    <p:sldId xmlns:r="http://schemas.openxmlformats.org/officeDocument/2006/relationships" id="258" r:id="Rb2b0f57464164d4a"/>
    <p:sldId xmlns:r="http://schemas.openxmlformats.org/officeDocument/2006/relationships" id="259" r:id="Rd467d4ba77ba4a5f"/>
    <p:sldId xmlns:r="http://schemas.openxmlformats.org/officeDocument/2006/relationships" id="260" r:id="R4fc599971adb4df7"/>
    <p:sldId xmlns:r="http://schemas.openxmlformats.org/officeDocument/2006/relationships" id="261" r:id="R371e0836bdfe4e15"/>
    <p:sldId xmlns:r="http://schemas.openxmlformats.org/officeDocument/2006/relationships" id="262" r:id="R58b48376c5304db3"/>
    <p:sldId xmlns:r="http://schemas.openxmlformats.org/officeDocument/2006/relationships" id="263" r:id="R1e881ea6fb6c4aa5"/>
    <p:sldId xmlns:r="http://schemas.openxmlformats.org/officeDocument/2006/relationships" id="264" r:id="R35542005050946dc"/>
    <p:sldId xmlns:r="http://schemas.openxmlformats.org/officeDocument/2006/relationships" id="265" r:id="Ra07c948c5678415d"/>
    <p:sldId xmlns:r="http://schemas.openxmlformats.org/officeDocument/2006/relationships" id="266" r:id="Re6b504387c1c4a5c"/>
    <p:sldId xmlns:r="http://schemas.openxmlformats.org/officeDocument/2006/relationships" id="267" r:id="R9d708abee2354969"/>
    <p:sldId xmlns:r="http://schemas.openxmlformats.org/officeDocument/2006/relationships" id="268" r:id="R7f9c96c030124003"/>
    <p:sldId xmlns:r="http://schemas.openxmlformats.org/officeDocument/2006/relationships" id="269" r:id="R383c492ebf7e4643"/>
    <p:sldId xmlns:r="http://schemas.openxmlformats.org/officeDocument/2006/relationships" id="270" r:id="R353c4a74b9044831"/>
    <p:sldId xmlns:r="http://schemas.openxmlformats.org/officeDocument/2006/relationships" id="271" r:id="Reee0f0f7976349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fa32eb5754cc0" /><Relationship Type="http://schemas.openxmlformats.org/officeDocument/2006/relationships/slideMaster" Target="/ppt/slideMasters/slideMaster1.xml" Id="R23f7915e46cb4ff9" /><Relationship Type="http://schemas.openxmlformats.org/officeDocument/2006/relationships/notesMaster" Target="/ppt/notesMasters/notesMaster1.xml" Id="R8bea1b995a6344ad" /><Relationship Type="http://schemas.openxmlformats.org/officeDocument/2006/relationships/presProps" Target="/ppt/presProps.xml" Id="Ref31907e3a9a4a7e" /><Relationship Type="http://schemas.openxmlformats.org/officeDocument/2006/relationships/tableStyles" Target="/ppt/tableStyles.xml" Id="Rdbd3bad3b79e4f06" /><Relationship Type="http://schemas.openxmlformats.org/officeDocument/2006/relationships/slide" Target="/ppt/slides/slide1.xml" Id="Ra4e54ff3e312466b" /><Relationship Type="http://schemas.openxmlformats.org/officeDocument/2006/relationships/slide" Target="/ppt/slides/slide2.xml" Id="R7ea21b9264d84974" /><Relationship Type="http://schemas.openxmlformats.org/officeDocument/2006/relationships/slide" Target="/ppt/slides/slide3.xml" Id="Rb2b0f57464164d4a" /><Relationship Type="http://schemas.openxmlformats.org/officeDocument/2006/relationships/slide" Target="/ppt/slides/slide4.xml" Id="Rd467d4ba77ba4a5f" /><Relationship Type="http://schemas.openxmlformats.org/officeDocument/2006/relationships/slide" Target="/ppt/slides/slide5.xml" Id="R4fc599971adb4df7" /><Relationship Type="http://schemas.openxmlformats.org/officeDocument/2006/relationships/slide" Target="/ppt/slides/slide6.xml" Id="R371e0836bdfe4e15" /><Relationship Type="http://schemas.openxmlformats.org/officeDocument/2006/relationships/slide" Target="/ppt/slides/slide7.xml" Id="R58b48376c5304db3" /><Relationship Type="http://schemas.openxmlformats.org/officeDocument/2006/relationships/slide" Target="/ppt/slides/slide8.xml" Id="R1e881ea6fb6c4aa5" /><Relationship Type="http://schemas.openxmlformats.org/officeDocument/2006/relationships/slide" Target="/ppt/slides/slide9.xml" Id="R35542005050946dc" /><Relationship Type="http://schemas.openxmlformats.org/officeDocument/2006/relationships/slide" Target="/ppt/slides/slide10.xml" Id="Ra07c948c5678415d" /><Relationship Type="http://schemas.openxmlformats.org/officeDocument/2006/relationships/slide" Target="/ppt/slides/slide11.xml" Id="Re6b504387c1c4a5c" /><Relationship Type="http://schemas.openxmlformats.org/officeDocument/2006/relationships/slide" Target="/ppt/slides/slide12.xml" Id="R9d708abee2354969" /><Relationship Type="http://schemas.openxmlformats.org/officeDocument/2006/relationships/slide" Target="/ppt/slides/slide13.xml" Id="R7f9c96c030124003" /><Relationship Type="http://schemas.openxmlformats.org/officeDocument/2006/relationships/slide" Target="/ppt/slides/slide14.xml" Id="R383c492ebf7e4643" /><Relationship Type="http://schemas.openxmlformats.org/officeDocument/2006/relationships/slide" Target="/ppt/slides/slide15.xml" Id="R353c4a74b9044831" /><Relationship Type="http://schemas.openxmlformats.org/officeDocument/2006/relationships/slide" Target="/ppt/slides/slide16.xml" Id="Reee0f0f7976349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150d90e7cb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49d7f038a04755" /><Relationship Type="http://schemas.openxmlformats.org/officeDocument/2006/relationships/notesMaster" Target="/ppt/notesMasters/notesMaster1.xml" Id="R548a23d4cc2e4d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2d99da57924345" /><Relationship Type="http://schemas.openxmlformats.org/officeDocument/2006/relationships/notesMaster" Target="/ppt/notesMasters/notesMaster1.xml" Id="R29a49c0eb3a542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972308aa604e48" /><Relationship Type="http://schemas.openxmlformats.org/officeDocument/2006/relationships/notesMaster" Target="/ppt/notesMasters/notesMaster1.xml" Id="R97bb4f431e314c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ada1b5a30046a8" /><Relationship Type="http://schemas.openxmlformats.org/officeDocument/2006/relationships/notesMaster" Target="/ppt/notesMasters/notesMaster1.xml" Id="R351cdcc55f024a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54af8cc10d4ea5" /><Relationship Type="http://schemas.openxmlformats.org/officeDocument/2006/relationships/notesMaster" Target="/ppt/notesMasters/notesMaster1.xml" Id="R04809ebd17a84a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6e0544f1134de3" /><Relationship Type="http://schemas.openxmlformats.org/officeDocument/2006/relationships/notesMaster" Target="/ppt/notesMasters/notesMaster1.xml" Id="Re68c4d72dbbe4c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112faa26ec450b" /><Relationship Type="http://schemas.openxmlformats.org/officeDocument/2006/relationships/notesMaster" Target="/ppt/notesMasters/notesMaster1.xml" Id="R2885cac1cf5b45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5e8f06acdc4d29" /><Relationship Type="http://schemas.openxmlformats.org/officeDocument/2006/relationships/notesMaster" Target="/ppt/notesMasters/notesMaster1.xml" Id="R53abf9d9190b41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6deeb68fc24cbe" /><Relationship Type="http://schemas.openxmlformats.org/officeDocument/2006/relationships/notesMaster" Target="/ppt/notesMasters/notesMaster1.xml" Id="R0f59305bcbb24d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7a7d8045cf419f" /><Relationship Type="http://schemas.openxmlformats.org/officeDocument/2006/relationships/notesMaster" Target="/ppt/notesMasters/notesMaster1.xml" Id="Rd495bc18dc934e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646d3ca67d40dc" /><Relationship Type="http://schemas.openxmlformats.org/officeDocument/2006/relationships/notesMaster" Target="/ppt/notesMasters/notesMaster1.xml" Id="R9f13b040abc04b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3481d137d54109" /><Relationship Type="http://schemas.openxmlformats.org/officeDocument/2006/relationships/notesMaster" Target="/ppt/notesMasters/notesMaster1.xml" Id="Rd8c55d94dde64a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c4baab1a9547f2" /><Relationship Type="http://schemas.openxmlformats.org/officeDocument/2006/relationships/notesMaster" Target="/ppt/notesMasters/notesMaster1.xml" Id="R96c57170d4144e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ee04ad550e4c6e" /><Relationship Type="http://schemas.openxmlformats.org/officeDocument/2006/relationships/notesMaster" Target="/ppt/notesMasters/notesMaster1.xml" Id="R0f370d5a2f0f4e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24c4d48e17414c" /><Relationship Type="http://schemas.openxmlformats.org/officeDocument/2006/relationships/notesMaster" Target="/ppt/notesMasters/notesMaster1.xml" Id="Ra820a48567014d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44c1254069401b" /><Relationship Type="http://schemas.openxmlformats.org/officeDocument/2006/relationships/notesMaster" Target="/ppt/notesMasters/notesMaster1.xml" Id="Rf51f1f1ead5849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ec4a1a3734a7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50fa35b7e143c7" /><Relationship Type="http://schemas.openxmlformats.org/officeDocument/2006/relationships/slideLayout" Target="/ppt/slideLayouts/slideLayout1.xml" Id="Re176b8d96b96457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76b8d96b964577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e557aa70e4465" /><Relationship Type="http://schemas.openxmlformats.org/officeDocument/2006/relationships/notesSlide" Target="/ppt/notesSlides/notesSlide1.xml" Id="R0b97986af809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56e88b6764a88" /><Relationship Type="http://schemas.openxmlformats.org/officeDocument/2006/relationships/chart" Target="/ppt/slides/charts/chart1.xml" Id="R911f891286b445a8" /><Relationship Type="http://schemas.openxmlformats.org/officeDocument/2006/relationships/notesSlide" Target="/ppt/notesSlides/notesSlide2.xml" Id="R6d14b1e0da2140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707cf32bb474a" /><Relationship Type="http://schemas.openxmlformats.org/officeDocument/2006/relationships/image" Target="/ppt/media/image.png" Id="R8bb00600e7a241eb" /><Relationship Type="http://schemas.openxmlformats.org/officeDocument/2006/relationships/notesSlide" Target="/ppt/notesSlides/notesSlide3.xml" Id="R6e3974c6f05441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141ea01f14993" /><Relationship Type="http://schemas.openxmlformats.org/officeDocument/2006/relationships/image" Target="/ppt/media/image.png" Id="Ra46f6367b5a64acd" /><Relationship Type="http://schemas.openxmlformats.org/officeDocument/2006/relationships/notesSlide" Target="/ppt/notesSlides/notesSlide4.xml" Id="Rb626922c903446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82d66b0894f84" /><Relationship Type="http://schemas.openxmlformats.org/officeDocument/2006/relationships/image" Target="/ppt/media/image.png" Id="Ra218d6569a314c2a" /><Relationship Type="http://schemas.openxmlformats.org/officeDocument/2006/relationships/notesSlide" Target="/ppt/notesSlides/notesSlide5.xml" Id="Rf6e3c82d89be46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d5558bbb14d9f" /><Relationship Type="http://schemas.openxmlformats.org/officeDocument/2006/relationships/image" Target="/ppt/media/image2.png" Id="R754eda95766b41ef" /><Relationship Type="http://schemas.openxmlformats.org/officeDocument/2006/relationships/notesSlide" Target="/ppt/notesSlides/notesSlide6.xml" Id="R3ced14246f334b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d7e71176c4c68" /><Relationship Type="http://schemas.openxmlformats.org/officeDocument/2006/relationships/image" Target="/ppt/media/image2.png" Id="Rc470079e01ec49ff" /><Relationship Type="http://schemas.openxmlformats.org/officeDocument/2006/relationships/notesSlide" Target="/ppt/notesSlides/notesSlide7.xml" Id="R9e8acd1f2bad4f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205bd8b424f1e" /><Relationship Type="http://schemas.openxmlformats.org/officeDocument/2006/relationships/image" Target="/ppt/media/image2.png" Id="Rd50e1a3cea6f47b4" /><Relationship Type="http://schemas.openxmlformats.org/officeDocument/2006/relationships/notesSlide" Target="/ppt/notesSlides/notesSlide8.xml" Id="R53323829e1264e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d44a5f53448f1" /><Relationship Type="http://schemas.openxmlformats.org/officeDocument/2006/relationships/image" Target="/ppt/media/image3.png" Id="R2b5b396d20ee461d" /><Relationship Type="http://schemas.openxmlformats.org/officeDocument/2006/relationships/notesSlide" Target="/ppt/notesSlides/notesSlide9.xml" Id="R0d8127a3078148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2eff7ea874825" /><Relationship Type="http://schemas.openxmlformats.org/officeDocument/2006/relationships/image" Target="/ppt/media/image3.png" Id="R6a89c2b46a5a47d3" /><Relationship Type="http://schemas.openxmlformats.org/officeDocument/2006/relationships/notesSlide" Target="/ppt/notesSlides/notesSlide10.xml" Id="Rd85ad13ca6f743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faf20bcf04005" /><Relationship Type="http://schemas.openxmlformats.org/officeDocument/2006/relationships/image" Target="/ppt/media/image.png" Id="R902f0ff2813b47bf" /><Relationship Type="http://schemas.openxmlformats.org/officeDocument/2006/relationships/notesSlide" Target="/ppt/notesSlides/notesSlide11.xml" Id="Rb45715e24ab546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c5fdef8e84db4" /><Relationship Type="http://schemas.openxmlformats.org/officeDocument/2006/relationships/image" Target="/ppt/media/image2.png" Id="R65f87d0683434e22" /><Relationship Type="http://schemas.openxmlformats.org/officeDocument/2006/relationships/notesSlide" Target="/ppt/notesSlides/notesSlide12.xml" Id="R82ec99e4ac3e4b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78fa8d1ce458c" /><Relationship Type="http://schemas.openxmlformats.org/officeDocument/2006/relationships/image" Target="/ppt/media/image3.png" Id="R9da329038f314a1b" /><Relationship Type="http://schemas.openxmlformats.org/officeDocument/2006/relationships/notesSlide" Target="/ppt/notesSlides/notesSlide13.xml" Id="Rcbd4b10043a34b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81e265dd44587" /><Relationship Type="http://schemas.openxmlformats.org/officeDocument/2006/relationships/image" Target="/ppt/media/image3.png" Id="R98214a7c795e44b5" /><Relationship Type="http://schemas.openxmlformats.org/officeDocument/2006/relationships/notesSlide" Target="/ppt/notesSlides/notesSlide14.xml" Id="R05d1ac1c56fc45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d56599b7f4e9b" /><Relationship Type="http://schemas.openxmlformats.org/officeDocument/2006/relationships/image" Target="/ppt/media/image4.png" Id="R23c8fef88b4d4a37" /><Relationship Type="http://schemas.openxmlformats.org/officeDocument/2006/relationships/notesSlide" Target="/ppt/notesSlides/notesSlide15.xml" Id="R7dd99a639f1047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84c44cea741f8" /><Relationship Type="http://schemas.openxmlformats.org/officeDocument/2006/relationships/image" Target="/ppt/media/image5.png" Id="Ra8db64c9bd334fe5" /><Relationship Type="http://schemas.openxmlformats.org/officeDocument/2006/relationships/notesSlide" Target="/ppt/notesSlides/notesSlide16.xml" Id="R50605e7410ec4128" /></Relationships>
</file>

<file path=ppt/slides/charts/chart1.xml><?xml version="1.0" encoding="utf-8"?>
<c:chartSpace xmlns:c="http://schemas.openxmlformats.org/drawingml/2006/chart">
  <c:lang val="en-US"/>
  <c:roundedCorners val="1"/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Times Asked</c:v>
                </c:pt>
              </c:strCache>
            </c:strRef>
          </c:tx>
          <c:spPr>
            <a:solidFill xmlns:a="http://schemas.openxmlformats.org/drawingml/2006/main">
              <a:srgbClr val="028090"/>
            </a:solidFill>
          </c:spP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 i="0" u="none">
                    <a:solidFill>
                      <a:srgbClr val="1E293B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Sheet1!$A$2:$A$8</c:f>
              <c:strCache>
                <c:ptCount val="9"/>
                <c:pt idx="0">
                  <c:v>Cataract</c:v>
                </c:pt>
                <c:pt idx="1">
                  <c:v>Haemorrhage</c:v>
                </c:pt>
                <c:pt idx="2">
                  <c:v>Refractive Errors</c:v>
                </c:pt>
                <c:pt idx="3">
                  <c:v>Ulcer</c:v>
                </c:pt>
                <c:pt idx="4">
                  <c:v>Varicose Veins</c:v>
                </c:pt>
                <c:pt idx="5">
                  <c:v>Glaucoma</c:v>
                </c:pt>
                <c:pt idx="6">
                  <c:v>Burns</c:v>
                </c:pt>
                <c:pt idx="7">
                  <c:v>Shock</c:v>
                </c:pt>
                <c:pt idx="8">
                  <c:v>Conjunctivitis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 i="0" u="none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0" i="0" u="none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4"/>
          <c:min val="0"/>
        </c:scaling>
        <c:delete val="0"/>
        <c:axPos val="b"/>
        <c:majorGridlines>
          <c:spPr>
            <a:ln xmlns:a="http://schemas.openxmlformats.org/drawingml/2006/main" w="635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Unit val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8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2A65753-E37C-4C78-B9E4-0558C23C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-201168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C1A9EB-F6FD-4459-BB19-D859FE54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0" y="438912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>
              <a:alpha val="2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4B5B2A-C4E5-4AAE-B649-E51C0F13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SURGERY-1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BABCC2-49D6-4659-BCC3-FA02B7B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100584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Important Essay Questions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0CE317E-8BE5-4F94-AFA7-3D24A3E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Compiled by topic frequency for focused revision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1D45B9A-9849-4551-86CF-4CC877B8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0"/>
            <a:ext cx="2834640" cy="502920"/>
          </a:xfrm>
          <a:prstGeom xmlns:a="http://schemas.openxmlformats.org/drawingml/2006/main" prst="roundRect">
            <a:avLst>
              <a:gd name="adj" fmla="val 50909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A6F9AF-AD87-424C-B8E7-E4E77DA3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0"/>
            <a:ext cx="2834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2008 - 2025 | Previous Question Papers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6B186DB-9D75-4F31-AA97-EA853867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Prepared from the supplied question list</a:t>
            </a:r>
          </a:p>
        </p:txBody>
      </p:sp>
    </p:spTree>
    <p:extLst>
      <p:ext uri="{BB962C8B-B14F-4D97-AF65-F5344CB8AC3E}">
        <p14:creationId xmlns:p14="http://schemas.microsoft.com/office/powerpoint/2010/main" val="1483683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F3B5C0-BC54-4E8A-ADAF-D9375C44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93B"/>
                </a:solidFill>
                <a:latin typeface="Cambria"/>
                <a:ea typeface="Cambria"/>
                <a:cs typeface="Cambria"/>
              </a:rPr>
              <a:t>Which Essay Topics Repeat the Most?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5D94B5-3366-452C-AE0F-B3FEC621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Frequency of each essay topic appearing in previous question papers, 2008-2025</a:t>
            </a:r>
          </a:p>
        </p:txBody>
      </p:sp>
      <p:graphicFrame>
        <p:nvGraphicFramePr>
          <p:cNvPr id="14" name="Chart 0"/>
          <p:cNvGraphicFramePr/>
          <p:nvPr/>
        </p:nvGraphicFramePr>
        <p:xfrm>
          <a:off xmlns:a="http://schemas.openxmlformats.org/drawingml/2006/main" x="548640" y="1463040"/>
          <a:ext xmlns:a="http://schemas.openxmlformats.org/drawingml/2006/main" cx="6766560" cy="49377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1f891286b445a8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615E9CC-A0D9-424A-974C-F00B2F01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463040"/>
            <a:ext cx="3977640" cy="49377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101600" dist="25400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9A9B5E3-A34A-4E40-AE6F-276412E7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737360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HOW TO USE THIS GUIDE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87AB5D2-1E44-4DB3-AF3D-7A2E62DC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194560"/>
            <a:ext cx="3383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Start with the red-zone topics: Conjunctivitis, Shock and Burns account for the strongest repeat pattern.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9510C76-15B9-40A6-A30A-DD3233D4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246120"/>
            <a:ext cx="3383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 the topic slides to revise repeated wording, not just topic names. Similar phrasing often returns across years.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6912D72-F832-40FA-B58D-2EA7AB1C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297680"/>
            <a:ext cx="3383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Then cover the five-time and four-time topics before moving into smaller repeat and single-occurrence topics.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B2BDDD-B103-43E5-A25C-5D3F67A6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5349240"/>
            <a:ext cx="3383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 final slide gives a practical revision order for quick last-minute planning.</a:t>
            </a:r>
          </a:p>
        </p:txBody>
      </p:sp>
    </p:spTree>
    <p:extLst>
      <p:ext uri="{BB962C8B-B14F-4D97-AF65-F5344CB8AC3E}">
        <p14:creationId xmlns:p14="http://schemas.microsoft.com/office/powerpoint/2010/main" val="782282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68EDF6-BF41-40F9-8726-F4EB31F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D1CA59-CD74-4DAF-9F73-4EE31646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00600e7a241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" y="51663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5B701DD-BDA0-4355-9527-35A4619A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260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Conjunctivitis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27139CF-6E31-4769-BCAD-DAA604F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1CE2E72-7F65-48F6-8CAD-882FBB1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8 times | part 1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563838-8F1B-4EF5-8970-26BC0930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752FE2E-6D67-4FE9-A67C-0AB8A85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9280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01E2903-71C8-476F-8719-490D341A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92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2008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43B3B54-1410-4C50-AA43-DFBD7013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the classification of conjunctivitis. Explain infective conjunctivitis.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AEEEF32-09C6-437F-861F-30FE1B8F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169164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5ABAC59-E51C-4A1E-8924-B3AC4BF4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189280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B212A-E893-488E-AED6-B6459A52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1892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2009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AAD24E9-F570-4343-BF08-352A4F4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240487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the classification of conjunctivitis. Explain infective conjunctivitis.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5325936-9B06-42D4-B4DB-08EDDEC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BA0D6CA-F6DC-4DCC-A623-9E175E1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5312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2C45F6-000B-4FDD-83AA-8E662F14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5312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2012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1B1CDC3-9315-4AE6-AAEA-7D356534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6519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conjunctivitis. Write etiology, signs and symptoms, and management of acute catarrhal conjunctivitis.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2164C3-8E19-4247-88C9-4709CFA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425196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7E2BF73-DD1F-4DBA-80A5-AA6D5CF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45312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47C29FD-9FEA-4A2F-8B67-4D6EA7E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45312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2013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B1BE06B-8071-4DAE-845E-20D0E44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96519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conjunctivitis. Write etiology, signs and symptoms, and management of acute catarrhal conjunctivitis.</a:t>
            </a:r>
          </a:p>
        </p:txBody>
      </p:sp>
    </p:spTree>
    <p:extLst>
      <p:ext uri="{BB962C8B-B14F-4D97-AF65-F5344CB8AC3E}">
        <p14:creationId xmlns:p14="http://schemas.microsoft.com/office/powerpoint/2010/main" val="1000031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68EDF6-BF41-40F9-8726-F4EB31F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D1CA59-CD74-4DAF-9F73-4EE31646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f6367b5a64a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" y="51663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5B701DD-BDA0-4355-9527-35A4619A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260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Conjunctivitis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27139CF-6E31-4769-BCAD-DAA604F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1CE2E72-7F65-48F6-8CAD-882FBB1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8 times | part 2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563838-8F1B-4EF5-8970-26BC0930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752FE2E-6D67-4FE9-A67C-0AB8A85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9280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01E2903-71C8-476F-8719-490D341A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92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2015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43B3B54-1410-4C50-AA43-DFBD7013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the classification of conjunctivitis and explain infective conjunctivitis.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AEEEF32-09C6-437F-861F-30FE1B8F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169164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5ABAC59-E51C-4A1E-8924-B3AC4BF4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189280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B212A-E893-488E-AED6-B6459A52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1892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2015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AAD24E9-F570-4343-BF08-352A4F4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240487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conjunctivitis. Write etiology, signs and symptoms, and management of acute catarrhal conjunctivitis.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5325936-9B06-42D4-B4DB-08EDDEC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BA0D6CA-F6DC-4DCC-A623-9E175E1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5312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2C45F6-000B-4FDD-83AA-8E662F14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5312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2016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1B1CDC3-9315-4AE6-AAEA-7D356534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6519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Explain conjunctivitis in detail.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2164C3-8E19-4247-88C9-4709CFA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425196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7E2BF73-DD1F-4DBA-80A5-AA6D5CF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45312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47C29FD-9FEA-4A2F-8B67-4D6EA7E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45312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2019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B1BE06B-8071-4DAE-845E-20D0E44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96519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conjunctivitis. Explain acute catarrhal conjunctivitis in detail.</a:t>
            </a:r>
          </a:p>
        </p:txBody>
      </p:sp>
    </p:spTree>
    <p:extLst>
      <p:ext uri="{BB962C8B-B14F-4D97-AF65-F5344CB8AC3E}">
        <p14:creationId xmlns:p14="http://schemas.microsoft.com/office/powerpoint/2010/main" val="1000031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68EDF6-BF41-40F9-8726-F4EB31F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D1CA59-CD74-4DAF-9F73-4EE31646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8d6569a314c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" y="51663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5B701DD-BDA0-4355-9527-35A4619A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260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Shock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27139CF-6E31-4769-BCAD-DAA604F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1CE2E72-7F65-48F6-8CAD-882FBB1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7 times | part 1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563838-8F1B-4EF5-8970-26BC0930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752FE2E-6D67-4FE9-A67C-0AB8A85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9280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01E2903-71C8-476F-8719-490D341A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92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2009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43B3B54-1410-4C50-AA43-DFBD7013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shock, classify shock and write in detail about hypovolaemic shock.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AEEEF32-09C6-437F-861F-30FE1B8F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169164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5ABAC59-E51C-4A1E-8924-B3AC4BF4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189280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B212A-E893-488E-AED6-B6459A52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1892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2011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AAD24E9-F570-4343-BF08-352A4F4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240487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is shock? Explain types, aetiology, clinical features and management.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5325936-9B06-42D4-B4DB-08EDDEC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BA0D6CA-F6DC-4DCC-A623-9E175E1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5312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2C45F6-000B-4FDD-83AA-8E662F14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5312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2013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1B1CDC3-9315-4AE6-AAEA-7D356534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6519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shock with causes, types, clinical features, pathophysiology and management.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2164C3-8E19-4247-88C9-4709CFA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425196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7E2BF73-DD1F-4DBA-80A5-AA6D5CF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45312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47C29FD-9FEA-4A2F-8B67-4D6EA7E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45312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2015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B1BE06B-8071-4DAE-845E-20D0E44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96519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Classify shock. Describe clinical features, investigations and management of septic shock.</a:t>
            </a:r>
          </a:p>
        </p:txBody>
      </p:sp>
    </p:spTree>
    <p:extLst>
      <p:ext uri="{BB962C8B-B14F-4D97-AF65-F5344CB8AC3E}">
        <p14:creationId xmlns:p14="http://schemas.microsoft.com/office/powerpoint/2010/main" val="1000031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81C180-DEA1-48E1-BFDB-64DD66A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A74D77-B014-4688-88F7-FCEA574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eda95766b41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" y="51663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4E3E81B-00A5-4E27-86DD-7449BE9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260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Shock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6916986-7AA0-46F7-8EDA-A91534E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4682FB2-F091-4F42-BA5B-C6D8FDF8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7 times | part 2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729A954-82D1-4DB2-8658-DD954F6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D77AC4A-773E-457A-9C0C-72BA9BB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7900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A95D3D-357F-45DA-83F5-20F20BC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7900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2017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AB547A8-F82C-46CA-A359-748D4A53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691640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shock in detail with its management.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BAB8A1A-EA71-44C6-8F46-CBFB3C3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9376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79AEE06-6FF3-46D9-9705-55704675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5636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FCD9BB3-36E9-4569-BC6C-8D18818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5636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2018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20D08E2-C229-424B-89F8-BD1F20C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389376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shock. Write types, details of hypovolemic shock and management.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BFF2C36-8B90-4BC8-A1D9-F68A5EC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87112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32A466E-6C4A-4493-98A3-F063F42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43372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B51C7DF-F24B-4849-872C-6407FC66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43372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F321F0E-3977-4214-AE47-E2F040AC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087112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shock, its causes, types, clinical features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362294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81C180-DEA1-48E1-BFDB-64DD66A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A74D77-B014-4688-88F7-FCEA574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0079e01ec49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" y="51663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4E3E81B-00A5-4E27-86DD-7449BE9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260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Burns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6916986-7AA0-46F7-8EDA-A91534E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4682FB2-F091-4F42-BA5B-C6D8FDF8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6 times | part 1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729A954-82D1-4DB2-8658-DD954F6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D77AC4A-773E-457A-9C0C-72BA9BB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7900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A95D3D-357F-45DA-83F5-20F20BC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7900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2009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AB547A8-F82C-46CA-A359-748D4A53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691640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burns, classify burns and write in detail about pathology of burns.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BAB8A1A-EA71-44C6-8F46-CBFB3C3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9376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79AEE06-6FF3-46D9-9705-55704675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5636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FCD9BB3-36E9-4569-BC6C-8D18818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5636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2010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20D08E2-C229-424B-89F8-BD1F20C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389376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types, clinical features, pathophysiology, metabolic changes and causes of death in burns.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BFF2C36-8B90-4BC8-A1D9-F68A5EC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87112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32A466E-6C4A-4493-98A3-F063F42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43372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B51C7DF-F24B-4849-872C-6407FC66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43372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2012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F321F0E-3977-4214-AE47-E2F040AC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087112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about burns, types, pathophysiology, assessment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362294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81C180-DEA1-48E1-BFDB-64DD66A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A74D77-B014-4688-88F7-FCEA574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e1a3cea6f47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" y="51663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4E3E81B-00A5-4E27-86DD-7449BE9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260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Burns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6916986-7AA0-46F7-8EDA-A91534E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4682FB2-F091-4F42-BA5B-C6D8FDF8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6 times | part 2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729A954-82D1-4DB2-8658-DD954F6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D77AC4A-773E-457A-9C0C-72BA9BB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7900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A95D3D-357F-45DA-83F5-20F20BC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7900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2016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AB547A8-F82C-46CA-A359-748D4A53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691640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burns. Write different types, assessment, management and treatment.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BAB8A1A-EA71-44C6-8F46-CBFB3C3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9376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79AEE06-6FF3-46D9-9705-55704675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5636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FCD9BB3-36E9-4569-BC6C-8D18818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5636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2018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20D08E2-C229-424B-89F8-BD1F20C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389376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burns. Write types, pathophysiology, assessment and management.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BFF2C36-8B90-4BC8-A1D9-F68A5EC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87112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32A466E-6C4A-4493-98A3-F063F42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43372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B51C7DF-F24B-4849-872C-6407FC66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43372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F321F0E-3977-4214-AE47-E2F040AC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087112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Explain burns, degrees of burns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3622944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8FE5CD3-39C6-4D57-ACAA-5AB009F6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8E842F-E48C-4C40-B47D-A71D9B0A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b396d20ee46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5720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C8A2DE8-BB2C-4CAD-9B2C-1AE8F5B0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Glaucoma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5F11DF0-8836-4012-8D21-6917E417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8580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Asked 5 times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F8B722A-6012-4264-B5A6-80F4D2FF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3B6BAD1-23FC-4FEF-904D-12B60D3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2009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8D6A87D-7EDC-4E31-A2BC-648A2B8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18488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631B86D-050F-40E7-8326-711C7DAC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508760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glaucoma and write about it in detail.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47542FC-4AF4-4F12-A319-BFF1AC05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3005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84ADEC1-7E17-42CB-A9E9-91C33558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53005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AUG 2010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13F624D-F50A-4676-B4F8-6A05EED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62733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CDC8FD0-E72A-4797-ACFE-07458D1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553005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etiology, classification, pathology, clinical features and management of glaucoma.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F03216F-EFA4-4039-A160-76888DF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7250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BB0BF0D-C978-44C8-A836-592BBC6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97250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AUG 2017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ED0D7B1-31B0-40A0-8AD2-73B3E097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06978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270E104-47BF-4F9D-B11E-4808265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597250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glaucoma. Mention types and elaborate primary open-angle glaucoma.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EDCD225-1FE3-4F40-8120-8DC70469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1494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DEF96D8-5C30-48BF-9703-9F4DB09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1494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2020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572ABEA-49CD-4069-B7FF-12E6DB2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1222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586D985-EC55-4488-B7DB-270AC91C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641494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glaucoma. Explain types, pathogenesis, clinical features and management.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15DF0CF-7860-42C8-AFA3-5D54D8D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5739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2857DCF-7BD4-426C-8C84-F3F9F71E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85739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4AD88BB5-52BB-47DA-BB56-68046245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795467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8CAA1CC-7599-4FA8-BB4B-844ED4F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685739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glaucoma. Write investigations, complications, diagnosis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661012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8FE5CD3-39C6-4D57-ACAA-5AB009F6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8E842F-E48C-4C40-B47D-A71D9B0A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9c2b46a5a47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5720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C8A2DE8-BB2C-4CAD-9B2C-1AE8F5B0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Varicose Veins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5F11DF0-8836-4012-8D21-6917E417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8580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Asked 5 times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F8B722A-6012-4264-B5A6-80F4D2FF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3B6BAD1-23FC-4FEF-904D-12B60D3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AUG 2008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8D6A87D-7EDC-4E31-A2BC-648A2B8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18488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631B86D-050F-40E7-8326-711C7DAC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508760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are varicose veins? Write aetiology, signs, symptoms, complications and treatment.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47542FC-4AF4-4F12-A319-BFF1AC05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3005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84ADEC1-7E17-42CB-A9E9-91C33558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53005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2010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13F624D-F50A-4676-B4F8-6A05EED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62733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CDC8FD0-E72A-4797-ACFE-07458D1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553005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varicose veins. Write types, pathogenesis, classification, etiology, sites, clinical features, investigations and differential diagnosis.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F03216F-EFA4-4039-A160-76888DF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7250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BB0BF0D-C978-44C8-A836-592BBC6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97250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2014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ED0D7B1-31B0-40A0-8AD2-73B3E097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06978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270E104-47BF-4F9D-B11E-4808265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597250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definition, etiology, clinical features, local examination and complications of varicose vein.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EDCD225-1FE3-4F40-8120-8DC70469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1494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DEF96D8-5C30-48BF-9703-9F4DB09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1494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FEB 2015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572ABEA-49CD-4069-B7FF-12E6DB2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1222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586D985-EC55-4488-B7DB-270AC91C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641494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are varicose veins? Write aetiology, signs, symptoms, complications and treatment.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15DF0CF-7860-42C8-AFA3-5D54D8D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5739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2857DCF-7BD4-426C-8C84-F3F9F71E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85739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AUG 2017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4AD88BB5-52BB-47DA-BB56-68046245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795467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8CAA1CC-7599-4FA8-BB4B-844ED4F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685739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varicose vein. Write pathology, clinical features and management in detail.</a:t>
            </a:r>
          </a:p>
        </p:txBody>
      </p:sp>
    </p:spTree>
    <p:extLst>
      <p:ext uri="{BB962C8B-B14F-4D97-AF65-F5344CB8AC3E}">
        <p14:creationId xmlns:p14="http://schemas.microsoft.com/office/powerpoint/2010/main" val="1661012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68EDF6-BF41-40F9-8726-F4EB31F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D1CA59-CD74-4DAF-9F73-4EE31646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f0ff2813b47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" y="51663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5B701DD-BDA0-4355-9527-35A4619A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260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Ulcer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D27139CF-6E31-4769-BCAD-DAA604F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1CE2E72-7F65-48F6-8CAD-882FBB1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Asked 4 times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563838-8F1B-4EF5-8970-26BC0930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752FE2E-6D67-4FE9-A67C-0AB8A853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9280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01E2903-71C8-476F-8719-490D341A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92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2008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43B3B54-1410-4C50-AA43-DFBD7013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is an ulcer? Write types, clinical features and examination of an ulcer.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AEEEF32-09C6-437F-861F-30FE1B8F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169164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15ABAC59-E51C-4A1E-8924-B3AC4BF4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189280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B212A-E893-488E-AED6-B6459A52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189280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2013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AAD24E9-F570-4343-BF08-352A4F4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240487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corneal ulcers. Describe etiology, pathology, classification, clinical features, investigation, differential diagnosis and management.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5325936-9B06-42D4-B4DB-08EDDEC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BA0D6CA-F6DC-4DCC-A623-9E175E1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5312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2C45F6-000B-4FDD-83AA-8E662F14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5312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2017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1B1CDC3-9315-4AE6-AAEA-7D356534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6519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ulcers, classify ulcers and write management.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2164C3-8E19-4247-88C9-4709CFA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4251960"/>
            <a:ext cx="546354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7E2BF73-DD1F-4DBA-80A5-AA6D5CF5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453128"/>
            <a:ext cx="123444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47C29FD-9FEA-4A2F-8B67-4D6EA7E2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453128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2019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B1BE06B-8071-4DAE-845E-20D0E44D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965192"/>
            <a:ext cx="50063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ulcer. Explain the types and write in detail about varicose ulcers.</a:t>
            </a:r>
          </a:p>
        </p:txBody>
      </p:sp>
    </p:spTree>
    <p:extLst>
      <p:ext uri="{BB962C8B-B14F-4D97-AF65-F5344CB8AC3E}">
        <p14:creationId xmlns:p14="http://schemas.microsoft.com/office/powerpoint/2010/main" val="10000318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81C180-DEA1-48E1-BFDB-64DD66A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4A74D77-B014-4688-88F7-FCEA574D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87d0683434e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084" y="51663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4E3E81B-00A5-4E27-86DD-7449BE9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2608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Smaller Repeat Topics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6916986-7AA0-46F7-8EDA-A91534E0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5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4682FB2-F091-4F42-BA5B-C6D8FDF8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82296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Refractive errors, haemorrhage and cataract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729A954-82D1-4DB2-8658-DD954F6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91640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D77AC4A-773E-457A-9C0C-72BA9BBA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7900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A95D3D-357F-45DA-83F5-20F20BC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7900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Refractive Errors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TIMES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AB547A8-F82C-46CA-A359-748D4A53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691640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Aug 2011, Feb 2014, Aug 2019: Explain refractive errors / errors of refraction and management.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BAB8A1A-EA71-44C6-8F46-CBFB3C3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9376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79AEE06-6FF3-46D9-9705-55704675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5636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FCD9BB3-36E9-4569-BC6C-8D18818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45636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Haemorrhage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TIMES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220D08E2-C229-424B-89F8-BD1F20C9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389376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Aug 2013, Feb 2016: Define and classify haemorrhage; write causes, clinical features, assessment and management.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BFF2C36-8B90-4BC8-A1D9-F68A5EC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87112"/>
            <a:ext cx="11155680" cy="1496568"/>
          </a:xfrm>
          <a:prstGeom xmlns:a="http://schemas.openxmlformats.org/drawingml/2006/main" prst="roundRect">
            <a:avLst>
              <a:gd name="adj" fmla="val 488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32A466E-6C4A-4493-98A3-F063F42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43372"/>
            <a:ext cx="128016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B51C7DF-F24B-4849-872C-6407FC66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43372"/>
            <a:ext cx="1280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Cataract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TIMES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F321F0E-3977-4214-AE47-E2F040AC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087112"/>
            <a:ext cx="9006840" cy="1496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Feb 2018, Mar 2021: Define cataract and explain types, etiology, pathology, classification, clinical features and management.</a:t>
            </a:r>
          </a:p>
        </p:txBody>
      </p:sp>
    </p:spTree>
    <p:extLst>
      <p:ext uri="{BB962C8B-B14F-4D97-AF65-F5344CB8AC3E}">
        <p14:creationId xmlns:p14="http://schemas.microsoft.com/office/powerpoint/2010/main" val="13622944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8FE5CD3-39C6-4D57-ACAA-5AB009F6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8E842F-E48C-4C40-B47D-A71D9B0A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329038f314a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5720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C8A2DE8-BB2C-4CAD-9B2C-1AE8F5B0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Single-Occurrence Essay Topics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5F11DF0-8836-4012-8D21-6917E417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8580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Asked once each | part 1 of 2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F8B722A-6012-4264-B5A6-80F4D2FF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3B6BAD1-23FC-4FEF-904D-12B60D3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Tetanus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2009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8D6A87D-7EDC-4E31-A2BC-648A2B8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18488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631B86D-050F-40E7-8326-711C7DAC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508760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Pathogenesis, signs and symptoms, treatment and prophylactic treatment for tetanus.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47542FC-4AF4-4F12-A319-BFF1AC05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3005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84ADEC1-7E17-42CB-A9E9-91C33558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53005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Hodgkin's Disease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2009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13F624D-F50A-4676-B4F8-6A05EED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62733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CDC8FD0-E72A-4797-ACFE-07458D1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553005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Pathology, clinical features, staging and special investigations leading to treatment.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F03216F-EFA4-4039-A160-76888DF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7250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BB0BF0D-C978-44C8-A836-592BBC6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97250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Arterial Embolism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FEB 2010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ED0D7B1-31B0-40A0-8AD2-73B3E097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06978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270E104-47BF-4F9D-B11E-4808265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597250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about the effects and investigations of arterial embolism.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EDCD225-1FE3-4F40-8120-8DC70469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1494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DEF96D8-5C30-48BF-9703-9F4DB09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1494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Hernia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2014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572ABEA-49CD-4069-B7FF-12E6DB2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1222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586D985-EC55-4488-B7DB-270AC91C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641494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hernia and explain composition, classification and treatment.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15DF0CF-7860-42C8-AFA3-5D54D8D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5739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2857DCF-7BD4-426C-8C84-F3F9F71E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85739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Gastric Ulcer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2014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4AD88BB5-52BB-47DA-BB56-68046245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795467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8CAA1CC-7599-4FA8-BB4B-844ED4F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685739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Explain gastric ulcer, diagnosis, treatment and complications.</a:t>
            </a:r>
          </a:p>
        </p:txBody>
      </p:sp>
    </p:spTree>
    <p:extLst>
      <p:ext uri="{BB962C8B-B14F-4D97-AF65-F5344CB8AC3E}">
        <p14:creationId xmlns:p14="http://schemas.microsoft.com/office/powerpoint/2010/main" val="16610122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8FE5CD3-39C6-4D57-ACAA-5AB009F6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C8E842F-E48C-4C40-B47D-A71D9B0A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14a7c795e44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5720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C8A2DE8-BB2C-4CAD-9B2C-1AE8F5B0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Single-Occurrence Essay Topics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5F11DF0-8836-4012-8D21-6917E417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8580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Asked once each | part 2 of 2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F8B722A-6012-4264-B5A6-80F4D2FF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3B6BAD1-23FC-4FEF-904D-12B60D36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Fractures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FEB 2016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8D6A87D-7EDC-4E31-A2BC-648A2B8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18488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631B86D-050F-40E7-8326-711C7DAC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508760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Define, classify, symptoms and management of fractures.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47542FC-4AF4-4F12-A319-BFF1AC05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3005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84ADEC1-7E17-42CB-A9E9-91C33558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53005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Keratitis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2018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13F624D-F50A-4676-B4F8-6A05EED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62733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CDC8FD0-E72A-4797-ACFE-07458D1F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553005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keratitis. Classify it and explain purulent keratitis with complications.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F03216F-EFA4-4039-A160-76888DF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7250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BB0BF0D-C978-44C8-A836-592BBC6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97250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Gangrene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AUG 2019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ED0D7B1-31B0-40A0-8AD2-73B3E097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06978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270E104-47BF-4F9D-B11E-4808265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597250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gangrene. Explain types, pathogenesis, clinical features and management.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EDCD225-1FE3-4F40-8120-8DC70469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1494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DEF96D8-5C30-48BF-9703-9F4DB09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1494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Malignant Tumours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FEB 2020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572ABEA-49CD-4069-B7FF-12E6DB2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751222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586D985-EC55-4488-B7DB-270AC91C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641494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tumour. Write etiology, types and spread of malignant tumours.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15DF0CF-7860-42C8-AFA3-5D54D8D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5739"/>
            <a:ext cx="11247120" cy="897941"/>
          </a:xfrm>
          <a:prstGeom xmlns:a="http://schemas.openxmlformats.org/drawingml/2006/main" prst="roundRect">
            <a:avLst>
              <a:gd name="adj" fmla="val 7128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2857DCF-7BD4-426C-8C84-F3F9F71E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85739"/>
            <a:ext cx="228600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Quick pass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AFTER REPEATS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4AD88BB5-52BB-47DA-BB56-68046245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795467"/>
            <a:ext cx="0" cy="6784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98CAA1CC-7599-4FA8-BB4B-844ED4F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685739"/>
            <a:ext cx="8046720" cy="897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Revise these after the repeated topics; they are lower frequency but still exam-relevant.</a:t>
            </a:r>
          </a:p>
        </p:txBody>
      </p:sp>
    </p:spTree>
    <p:extLst>
      <p:ext uri="{BB962C8B-B14F-4D97-AF65-F5344CB8AC3E}">
        <p14:creationId xmlns:p14="http://schemas.microsoft.com/office/powerpoint/2010/main" val="16610122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E88DCC-BC2A-43B4-8C67-11E6B70D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0D08A3D-5B99-4B54-A743-1B540C9A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8fef88b4d4a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" y="45720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91393E6-53EC-4729-877F-99B2D0F7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288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Quick Priority Summary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553B8D7-C429-4228-BAED-2E8B6E25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8580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Frequency table grouped for fast revision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36AF644-567C-4C0F-8C24-F158D646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8760"/>
            <a:ext cx="11247120" cy="1159002"/>
          </a:xfrm>
          <a:prstGeom xmlns:a="http://schemas.openxmlformats.org/drawingml/2006/main" prst="roundRect">
            <a:avLst>
              <a:gd name="adj" fmla="val 5523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8883DA0-D9C3-4F89-8046-9D0B1FE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2286000" cy="11590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Rank 1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Conjunctivitis - 8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52CCFAE-158E-4848-A193-A055CB74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618488"/>
            <a:ext cx="0" cy="9395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C4FA3E7-81BB-4BF0-B079-697ED224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508760"/>
            <a:ext cx="8046720" cy="11590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Highest priority. Classification, infective conjunctivitis and acute catarrhal conjunctivitis repeat most.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08F7AEA-5AB0-4966-91D0-2C910CB5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4066"/>
            <a:ext cx="11247120" cy="1159002"/>
          </a:xfrm>
          <a:prstGeom xmlns:a="http://schemas.openxmlformats.org/drawingml/2006/main" prst="roundRect">
            <a:avLst>
              <a:gd name="adj" fmla="val 5523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87692E8-4370-4A45-9C73-8A1F9352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14066"/>
            <a:ext cx="2286000" cy="11590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Ranks 2-3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Shock - 7 | Burns - 6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4FB8A91-43F8-49B3-A4B5-65467D3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923794"/>
            <a:ext cx="0" cy="9395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107B8B7-29C3-48D7-9326-3E975F03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814066"/>
            <a:ext cx="8046720" cy="11590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Core surgery topics. Prepare definitions, classifications, pathophysiology, clinical features and management.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F06DAF1-58C3-4FCE-B93C-A97FF7E1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9372"/>
            <a:ext cx="11247120" cy="1159002"/>
          </a:xfrm>
          <a:prstGeom xmlns:a="http://schemas.openxmlformats.org/drawingml/2006/main" prst="roundRect">
            <a:avLst>
              <a:gd name="adj" fmla="val 5523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61ADD64-7FC7-4696-BC2A-5039E538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19372"/>
            <a:ext cx="2286000" cy="11590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Ranks 4-6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Glaucoma - 5 | Varicose Veins - 5 | Ulcer - 4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F282E51-2A0F-40E5-AF2F-8C199683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229100"/>
            <a:ext cx="0" cy="9395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513A028-53A1-4ADF-8ED2-F409F8FF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119372"/>
            <a:ext cx="8046720" cy="11590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Strong repeat zone. Learn types, investigations, complications and management patterns.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31FF96B-B862-453C-9DED-460817CB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4678"/>
            <a:ext cx="11247120" cy="1159002"/>
          </a:xfrm>
          <a:prstGeom xmlns:a="http://schemas.openxmlformats.org/drawingml/2006/main" prst="roundRect">
            <a:avLst>
              <a:gd name="adj" fmla="val 5523"/>
            </a:avLst>
          </a:prstGeom>
          <a:solidFill xmlns:a="http://schemas.openxmlformats.org/drawingml/2006/main">
            <a:srgbClr val="F0F9F8"/>
          </a:solidFill>
          <a:effectLst xmlns:a="http://schemas.openxmlformats.org/drawingml/2006/main">
            <a:outerShdw blurRad="63500" dist="25400" dir="2700000" sx="100000" sy="100000" kx="0" ky="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31722CD-FECF-4801-9EFE-3343CF3A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24678"/>
            <a:ext cx="2286000" cy="11590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Ranks 7-9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Refractive Errors - 3 | Haemorrhage - 2 | Cataract - 2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3687301-5C9C-4B9C-B762-D7334B65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5534406"/>
            <a:ext cx="0" cy="9395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5E9E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A0E06AB-5E8C-43B6-BD63-E5F5AF7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424678"/>
            <a:ext cx="8046720" cy="11590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2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Shorter repeat zone. Keep definitions, classifications and management frameworks ready.</a:t>
            </a:r>
          </a:p>
        </p:txBody>
      </p:sp>
    </p:spTree>
    <p:extLst>
      <p:ext uri="{BB962C8B-B14F-4D97-AF65-F5344CB8AC3E}">
        <p14:creationId xmlns:p14="http://schemas.microsoft.com/office/powerpoint/2010/main" val="17010154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28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3ECDF28-2CE2-47BD-B488-AE42EFC2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-2286000"/>
            <a:ext cx="5486400" cy="548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>
              <a:alpha val="28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2F9E627-6746-4939-A6DA-A0EF00C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>
              <a:alpha val="25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A2230EF-6F98-4248-BFEC-AECD9CDA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436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b64c9bd334f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984" y="786384"/>
            <a:ext cx="393192" cy="393192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D3CF535-702B-4517-9C2D-B272149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2920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Revision Priority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9023BC7-9A0B-4B45-AC60-3A66CC49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3291840" cy="420624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F002287-958C-45BA-A922-12A8E3D7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221992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Study first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75C4B0F-A542-49C8-8B4B-140FCCB7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62432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Repeated 6-8 times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DB3ECC6-344E-43D5-80D6-9E1993CF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063240"/>
            <a:ext cx="277977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Conjunctivitis (8)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Shock (7)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Burns (6)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2BED98-C360-4851-A637-DC8408C3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65960"/>
            <a:ext cx="3291840" cy="420624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5EDF3D5-72E5-45F8-967B-844DD340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221992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Study next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3C29C2A-5D03-4F88-A34B-E19A58D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62432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Repeated 4-5 times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FDC12E1-0075-4565-824F-5889F5B9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063240"/>
            <a:ext cx="277977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Glaucoma (5)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Varicose Veins (5)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Ulcer (4)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64260C4-4D3F-4304-ACF7-9D897AA5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965960"/>
            <a:ext cx="3291840" cy="420624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9C81FEA-ECC1-4308-9EAE-7D26CBCA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21992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Quick pass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A7B7A98-39E1-4037-80A6-49D9EEF3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62432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Repeated 1-3 times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189CCC8-7EB1-4E09-B044-37628868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063240"/>
            <a:ext cx="277977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Refractive Errors (3)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Haemorrhage (2), Cataract (2)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Char char="•"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Single-occurrence topics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EF5A0EF-6E92-4370-A744-560D0470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008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Good luck with your exam.</a:t>
            </a:r>
          </a:p>
        </p:txBody>
      </p:sp>
    </p:spTree>
    <p:extLst>
      <p:ext uri="{BB962C8B-B14F-4D97-AF65-F5344CB8AC3E}">
        <p14:creationId xmlns:p14="http://schemas.microsoft.com/office/powerpoint/2010/main" val="14462189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2026-07-03T13:16:56.3370000Z</dcterms:created>
  <dcterms:modified xsi:type="dcterms:W3CDTF">2026-07-03T13:16:56.3370000Z</dcterms:modified>
</coreProperties>
</file>